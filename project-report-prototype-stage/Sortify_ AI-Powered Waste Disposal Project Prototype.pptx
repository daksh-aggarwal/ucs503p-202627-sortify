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SemiBold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Inter ExtraBold"/>
      <p:bold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InterExtraBold-bold.fntdata"/><Relationship Id="rId21" Type="http://schemas.openxmlformats.org/officeDocument/2006/relationships/font" Target="fonts/Inter-boldItalic.fntdata"/><Relationship Id="rId24" Type="http://schemas.openxmlformats.org/officeDocument/2006/relationships/font" Target="fonts/RobotoMono-regular.fntdata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d721b5c9_12_0)">
  <p:cSld name="Generated (g3f6d721b5c9_12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" name="Google Shape;12;p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57" name="Google Shape;57;p14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" name="Google Shape;58;p14"/>
            <p:cNvSpPr txBox="1"/>
            <p:nvPr/>
          </p:nvSpPr>
          <p:spPr>
            <a:xfrm>
              <a:off x="381000" y="485775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SOFTWARE ENGINEERING PROTOTYPE</a:t>
              </a:r>
              <a:endParaRPr b="0" i="0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7810500" y="48577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PAGE 01</a:t>
              </a:r>
              <a:endParaRPr b="0" i="0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0" name="Google Shape;60;p14"/>
          <p:cNvSpPr txBox="1"/>
          <p:nvPr/>
        </p:nvSpPr>
        <p:spPr>
          <a:xfrm>
            <a:off x="762000" y="1714500"/>
            <a:ext cx="762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" sz="4050" u="none" cap="none" strike="noStrike">
                <a:solidFill>
                  <a:srgbClr val="1A2B22"/>
                </a:solidFill>
                <a:latin typeface="Inter"/>
                <a:ea typeface="Inter"/>
                <a:cs typeface="Inter"/>
                <a:sym typeface="Inter"/>
              </a:rPr>
              <a:t>Sortify App Prototype</a:t>
            </a:r>
            <a:endParaRPr b="1" i="0" sz="4050" u="none" cap="none" strike="noStrike">
              <a:solidFill>
                <a:srgbClr val="1A2B2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2E8B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AI-powered waste identification &amp; disposal guidance</a:t>
            </a:r>
            <a:endParaRPr b="0" i="0" sz="1800" u="none" cap="none" strike="noStrike">
              <a:solidFill>
                <a:srgbClr val="2E8B5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61" name="Google Shape;61;p14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3" y="-3"/>
            <a:ext cx="761999" cy="76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15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" name="Google Shape;68;p15"/>
          <p:cNvGrpSpPr/>
          <p:nvPr/>
        </p:nvGrpSpPr>
        <p:grpSpPr>
          <a:xfrm>
            <a:off x="381000" y="285750"/>
            <a:ext cx="2202900" cy="285900"/>
            <a:chOff x="0" y="0"/>
            <a:chExt cx="2202900" cy="285900"/>
          </a:xfrm>
        </p:grpSpPr>
        <p:sp>
          <p:nvSpPr>
            <p:cNvPr id="69" name="Google Shape;69;p15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304800" y="0"/>
              <a:ext cx="1898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" sz="1350" u="none" cap="none" strike="noStrike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 MOBILE APP</a:t>
              </a:r>
              <a:endParaRPr b="0" i="0" sz="135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73" name="Google Shape;73;p15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5"/>
          <p:cNvSpPr txBox="1"/>
          <p:nvPr/>
        </p:nvSpPr>
        <p:spPr>
          <a:xfrm>
            <a:off x="381000" y="48577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SOFTWARE ENGINEERING PROTOTYPE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81050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PAGE 02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47472" y="804672"/>
            <a:ext cx="7662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INTRODUCTION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47472" y="1161288"/>
            <a:ext cx="7662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Why Sortify, and what the prototype is designed to demonstrate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502920" y="1572768"/>
            <a:ext cx="3657600" cy="2240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02920" y="1572768"/>
            <a:ext cx="50292" cy="2240280"/>
          </a:xfrm>
          <a:prstGeom prst="rect">
            <a:avLst/>
          </a:prstGeom>
          <a:solidFill>
            <a:srgbClr val="2F9D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704088" y="171907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PROBLEM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704088" y="2075688"/>
            <a:ext cx="3291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150"/>
              <a:buFont typeface="Inter"/>
              <a:buChar char="●"/>
            </a:pPr>
            <a:r>
              <a:rPr b="0" i="0" lang="en" sz="11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Disposal routes for everyday items are often unclear.</a:t>
            </a:r>
            <a:endParaRPr/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150"/>
              <a:buFont typeface="Inter"/>
              <a:buChar char="●"/>
            </a:pPr>
            <a:r>
              <a:rPr b="0" i="0" lang="en" sz="11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Guidelines are fragmented, making correct segregation harder.</a:t>
            </a:r>
            <a:endParaRPr/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150"/>
              <a:buFont typeface="Inter"/>
              <a:buChar char="●"/>
            </a:pPr>
            <a:r>
              <a:rPr b="0" i="0" lang="en" sz="11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Rules can depend on waste category and location.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343400" y="1572768"/>
            <a:ext cx="3657600" cy="2240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343400" y="1572768"/>
            <a:ext cx="50292" cy="2240280"/>
          </a:xfrm>
          <a:prstGeom prst="rect">
            <a:avLst/>
          </a:prstGeom>
          <a:solidFill>
            <a:srgbClr val="2F9D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544568" y="171907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PROJECT GOAL</a:t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4544568" y="2075688"/>
            <a:ext cx="32919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150"/>
              <a:buFont typeface="Inter"/>
              <a:buChar char="●"/>
            </a:pPr>
            <a:r>
              <a:rPr b="0" i="0" lang="en" sz="11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Move users from an unidentified item to actionable disposal instructions.</a:t>
            </a:r>
            <a:endParaRPr/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150"/>
              <a:buFont typeface="Inter"/>
              <a:buChar char="●"/>
            </a:pPr>
            <a:r>
              <a:rPr b="0" i="0" lang="en" sz="11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Combine identification, disposal guidance, history, feedback and supporting tools.</a:t>
            </a:r>
            <a:endParaRPr/>
          </a:p>
          <a:p>
            <a:pPr indent="-3016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150"/>
              <a:buFont typeface="Inter"/>
              <a:buChar char="●"/>
            </a:pPr>
            <a:r>
              <a:rPr b="0" i="0" lang="en" sz="11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Demonstrate the core user-facing experience at prototype stage.</a:t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502920" y="3931920"/>
            <a:ext cx="7498079" cy="74980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502920" y="3931920"/>
            <a:ext cx="50292" cy="749808"/>
          </a:xfrm>
          <a:prstGeom prst="rect">
            <a:avLst/>
          </a:prstGeom>
          <a:solidFill>
            <a:srgbClr val="7BB8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704088" y="4000124"/>
            <a:ext cx="7132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PROTOTYPE SCOPE</a:t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704088" y="4215390"/>
            <a:ext cx="71322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8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Local mobile demo with simulated predictions; no deployed backend or trained image-classification model yet.</a:t>
            </a:r>
            <a:endParaRPr/>
          </a:p>
        </p:txBody>
      </p:sp>
      <p:pic>
        <p:nvPicPr>
          <p:cNvPr id="90" name="Google Shape;90;p15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3" y="-3"/>
            <a:ext cx="761999" cy="76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-36275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7" name="Google Shape;97;p16"/>
          <p:cNvGrpSpPr/>
          <p:nvPr/>
        </p:nvGrpSpPr>
        <p:grpSpPr>
          <a:xfrm>
            <a:off x="381000" y="285750"/>
            <a:ext cx="2202900" cy="285900"/>
            <a:chOff x="0" y="0"/>
            <a:chExt cx="2202900" cy="285900"/>
          </a:xfrm>
        </p:grpSpPr>
        <p:sp>
          <p:nvSpPr>
            <p:cNvPr id="98" name="Google Shape;98;p16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304800" y="0"/>
              <a:ext cx="1898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" sz="1350" u="none" cap="none" strike="noStrike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 MOBILE APP</a:t>
              </a:r>
              <a:endParaRPr b="0" i="0" sz="135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102" name="Google Shape;102;p16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6"/>
          <p:cNvSpPr txBox="1"/>
          <p:nvPr/>
        </p:nvSpPr>
        <p:spPr>
          <a:xfrm>
            <a:off x="381000" y="48577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SOFTWARE ENGINEERING PROTOTYPE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781050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PAGE 03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347472" y="804672"/>
            <a:ext cx="7662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METHODOLOGY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347472" y="1161288"/>
            <a:ext cx="7662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Prototype architecture, functional flow and implementation stack</a:t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02925" y="1444750"/>
            <a:ext cx="2331600" cy="2560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502927" y="1444750"/>
            <a:ext cx="50400" cy="2560800"/>
          </a:xfrm>
          <a:prstGeom prst="rect">
            <a:avLst/>
          </a:prstGeom>
          <a:solidFill>
            <a:srgbClr val="2F9D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704088" y="1591056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FLOW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704088" y="1947672"/>
            <a:ext cx="1965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Capture / upload image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Validate image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Simulate prediction + confidence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Retrieve category &amp; disposal guidance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Save, sort, ask assistant or give feedback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2953500" y="1444750"/>
            <a:ext cx="2331600" cy="2560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2953500" y="1444750"/>
            <a:ext cx="50400" cy="2560800"/>
          </a:xfrm>
          <a:prstGeom prst="rect">
            <a:avLst/>
          </a:prstGeom>
          <a:solidFill>
            <a:srgbClr val="2F9D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154680" y="1591056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ARCHITECTURE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3154680" y="1947672"/>
            <a:ext cx="1965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Mobile-first React Native app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Local waste knowledge/catalog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Local history, profile &amp; feedback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Location-aware guidance text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Demo admin workflow</a:t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5404100" y="1444750"/>
            <a:ext cx="2596800" cy="25608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404100" y="1444750"/>
            <a:ext cx="50400" cy="2560800"/>
          </a:xfrm>
          <a:prstGeom prst="rect">
            <a:avLst/>
          </a:prstGeom>
          <a:solidFill>
            <a:srgbClr val="2F9D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605272" y="1591056"/>
            <a:ext cx="22311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TECH STACK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605272" y="1947672"/>
            <a:ext cx="22311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Expo / React Native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Expo Router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Expo Image Picker</a:t>
            </a:r>
            <a:endParaRPr/>
          </a:p>
          <a:p>
            <a:pPr indent="-2946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D53"/>
              </a:buClr>
              <a:buSzPts val="1040"/>
              <a:buFont typeface="Inter"/>
              <a:buChar char="●"/>
            </a:pPr>
            <a:r>
              <a:rPr b="0" i="0" lang="en" sz="104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AsyncStorage for local persistence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02932" y="4118852"/>
            <a:ext cx="7498200" cy="530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02983" y="4118852"/>
            <a:ext cx="50400" cy="530400"/>
          </a:xfrm>
          <a:prstGeom prst="rect">
            <a:avLst/>
          </a:prstGeom>
          <a:solidFill>
            <a:srgbClr val="7BB8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685950" y="4156825"/>
            <a:ext cx="7132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CURRENT BOUNDARY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85900" y="4385050"/>
            <a:ext cx="7132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9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Frontend/local demo only — no FastAPI, PostgreSQL, trained ML model or live LLM is connected.</a:t>
            </a:r>
            <a:endParaRPr/>
          </a:p>
        </p:txBody>
      </p:sp>
      <p:pic>
        <p:nvPicPr>
          <p:cNvPr id="123" name="Google Shape;123;p16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3" y="-3"/>
            <a:ext cx="761999" cy="76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17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" name="Google Shape;130;p17"/>
          <p:cNvGrpSpPr/>
          <p:nvPr/>
        </p:nvGrpSpPr>
        <p:grpSpPr>
          <a:xfrm>
            <a:off x="381000" y="285750"/>
            <a:ext cx="2202900" cy="285900"/>
            <a:chOff x="0" y="0"/>
            <a:chExt cx="2202900" cy="285900"/>
          </a:xfrm>
        </p:grpSpPr>
        <p:sp>
          <p:nvSpPr>
            <p:cNvPr id="131" name="Google Shape;131;p17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304800" y="0"/>
              <a:ext cx="1898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" sz="1350" u="none" cap="none" strike="noStrike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 MOBILE APP</a:t>
              </a:r>
              <a:endParaRPr b="0" i="0" sz="135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135" name="Google Shape;135;p17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7"/>
          <p:cNvSpPr txBox="1"/>
          <p:nvPr/>
        </p:nvSpPr>
        <p:spPr>
          <a:xfrm>
            <a:off x="381000" y="48577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SOFTWARE ENGINEERING PROTOTYPE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781050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PAGE 04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347472" y="804672"/>
            <a:ext cx="7662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90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RESULTS &amp; EVALUATION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347472" y="1161288"/>
            <a:ext cx="7662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What is working now, and what remains for the next stage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02925" y="1444750"/>
            <a:ext cx="3657600" cy="2637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02925" y="1444750"/>
            <a:ext cx="50400" cy="2637300"/>
          </a:xfrm>
          <a:prstGeom prst="rect">
            <a:avLst/>
          </a:prstGeom>
          <a:solidFill>
            <a:srgbClr val="2F9D6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704088" y="1591056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IMPLEMENTED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04088" y="1947672"/>
            <a:ext cx="3291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Mobile UI and routed navigation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Searchable/filterable waste guide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Scan demo with image validation + confidence states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Disposal steps, cautions and local guidance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History, activity, profile and feedback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Scripted catalog-based assistant + admin demo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343400" y="1444750"/>
            <a:ext cx="3657600" cy="2637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343400" y="1444750"/>
            <a:ext cx="50400" cy="2637300"/>
          </a:xfrm>
          <a:prstGeom prst="rect">
            <a:avLst/>
          </a:prstGeom>
          <a:solidFill>
            <a:srgbClr val="B07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4544568" y="1591056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NOT YET IMPLEMENTED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544568" y="1947672"/>
            <a:ext cx="3291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Trained image-classification model and real inference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FastAPI backend + PostgreSQL database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Production authentication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Live location/collection-point services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1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Live conversational AI backend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02920" y="4157102"/>
            <a:ext cx="7498200" cy="5304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2DE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02920" y="4157102"/>
            <a:ext cx="50400" cy="530400"/>
          </a:xfrm>
          <a:prstGeom prst="rect">
            <a:avLst/>
          </a:prstGeom>
          <a:solidFill>
            <a:srgbClr val="7BB89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85863" y="4194112"/>
            <a:ext cx="71322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2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EVALUATION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85863" y="4422712"/>
            <a:ext cx="7132200" cy="2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9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Functional evaluation only; ML metrics require a trained model + held-out test set.</a:t>
            </a:r>
            <a:endParaRPr/>
          </a:p>
        </p:txBody>
      </p:sp>
      <p:pic>
        <p:nvPicPr>
          <p:cNvPr id="152" name="Google Shape;152;p17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3" y="-3"/>
            <a:ext cx="761999" cy="76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18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9" name="Google Shape;159;p18"/>
          <p:cNvGrpSpPr/>
          <p:nvPr/>
        </p:nvGrpSpPr>
        <p:grpSpPr>
          <a:xfrm>
            <a:off x="381000" y="285750"/>
            <a:ext cx="2202900" cy="285900"/>
            <a:chOff x="0" y="0"/>
            <a:chExt cx="2202900" cy="285900"/>
          </a:xfrm>
        </p:grpSpPr>
        <p:sp>
          <p:nvSpPr>
            <p:cNvPr id="160" name="Google Shape;160;p18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304800" y="0"/>
              <a:ext cx="1898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" sz="1350" u="none" cap="none" strike="noStrike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 MOBILE APP</a:t>
              </a:r>
              <a:endParaRPr b="0" i="0" sz="135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164" name="Google Shape;164;p18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8"/>
          <p:cNvSpPr txBox="1"/>
          <p:nvPr/>
        </p:nvSpPr>
        <p:spPr>
          <a:xfrm>
            <a:off x="381000" y="48577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SOFTWARE ENGINEERING PROTOTYPE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6" name="Google Shape;166;p18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3" y="72"/>
            <a:ext cx="761999" cy="7619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8"/>
          <p:cNvGrpSpPr/>
          <p:nvPr/>
        </p:nvGrpSpPr>
        <p:grpSpPr>
          <a:xfrm>
            <a:off x="3710423" y="2463588"/>
            <a:ext cx="1640205" cy="857400"/>
            <a:chOff x="3970255" y="2947563"/>
            <a:chExt cx="3810000" cy="857400"/>
          </a:xfrm>
        </p:grpSpPr>
        <p:sp>
          <p:nvSpPr>
            <p:cNvPr id="168" name="Google Shape;168;p18"/>
            <p:cNvSpPr/>
            <p:nvPr/>
          </p:nvSpPr>
          <p:spPr>
            <a:xfrm>
              <a:off x="4762500" y="3676650"/>
              <a:ext cx="76200" cy="76200"/>
            </a:xfrm>
            <a:prstGeom prst="rect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3970255" y="2947563"/>
              <a:ext cx="381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0" i="0" lang="en" sz="1125" u="none" cap="none" strike="noStrike">
                  <a:solidFill>
                    <a:srgbClr val="1A2B2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Fragmented Guidelin</a:t>
              </a:r>
              <a:endParaRPr b="0" i="0" sz="1125" u="none" cap="none" strike="noStrike">
                <a:solidFill>
                  <a:srgbClr val="1A2B22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Disposal guidelines are split across varius municipal websites and physical flyers, requiring slow and tedious manual searches.</a:t>
              </a:r>
              <a:endParaRPr b="0" i="0" sz="10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2092490" y="1011081"/>
            <a:ext cx="4959020" cy="3444288"/>
            <a:chOff x="381000" y="1809750"/>
            <a:chExt cx="4000500" cy="2571900"/>
          </a:xfrm>
        </p:grpSpPr>
        <p:sp>
          <p:nvSpPr>
            <p:cNvPr id="171" name="Google Shape;171;p18"/>
            <p:cNvSpPr/>
            <p:nvPr/>
          </p:nvSpPr>
          <p:spPr>
            <a:xfrm>
              <a:off x="381000" y="1809750"/>
              <a:ext cx="4000500" cy="2571900"/>
            </a:xfrm>
            <a:prstGeom prst="roundRect">
              <a:avLst>
                <a:gd fmla="val 2222" name="adj"/>
              </a:avLst>
            </a:prstGeom>
            <a:solidFill>
              <a:srgbClr val="E9EFEA"/>
            </a:solidFill>
            <a:ln cap="flat" cmpd="sng" w="9525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381000" y="1809750"/>
              <a:ext cx="57300" cy="2571900"/>
            </a:xfrm>
            <a:prstGeom prst="roundRect">
              <a:avLst>
                <a:gd fmla="val 33333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1333510" y="1871908"/>
              <a:ext cx="2095500" cy="22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1A2B2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Home &amp; Activity Page</a:t>
              </a:r>
              <a:endParaRPr b="1" i="0" sz="950" u="none" cap="none" strike="noStrike">
                <a:solidFill>
                  <a:srgbClr val="4A5D53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174" name="Google Shape;174;p18"/>
          <p:cNvSpPr txBox="1"/>
          <p:nvPr/>
        </p:nvSpPr>
        <p:spPr>
          <a:xfrm>
            <a:off x="781050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PAGE 05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5" name="Google Shape;175;p18" title="Screenshot iPhone 17 Pro 15-09-2026 at 11.43.54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1290225"/>
            <a:ext cx="1397949" cy="303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title="Screenshot iPhone 17 Pro 15-09-2026 at 11.43.51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83888" y="1290200"/>
            <a:ext cx="1397973" cy="303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19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" name="Google Shape;183;p19"/>
          <p:cNvGrpSpPr/>
          <p:nvPr/>
        </p:nvGrpSpPr>
        <p:grpSpPr>
          <a:xfrm>
            <a:off x="381000" y="285750"/>
            <a:ext cx="2202900" cy="285900"/>
            <a:chOff x="0" y="0"/>
            <a:chExt cx="2202900" cy="285900"/>
          </a:xfrm>
        </p:grpSpPr>
        <p:sp>
          <p:nvSpPr>
            <p:cNvPr id="184" name="Google Shape;184;p19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304800" y="0"/>
              <a:ext cx="1898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" sz="1350" u="none" cap="none" strike="noStrike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 MOBILE APP</a:t>
              </a:r>
              <a:endParaRPr b="0" i="0" sz="135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188" name="Google Shape;188;p19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9"/>
          <p:cNvSpPr txBox="1"/>
          <p:nvPr/>
        </p:nvSpPr>
        <p:spPr>
          <a:xfrm>
            <a:off x="381000" y="48577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SOFTWARE ENGINEERING PROTOTYPE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0" name="Google Shape;190;p19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3" y="72"/>
            <a:ext cx="761999" cy="7619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9"/>
          <p:cNvGrpSpPr/>
          <p:nvPr/>
        </p:nvGrpSpPr>
        <p:grpSpPr>
          <a:xfrm>
            <a:off x="3674155" y="2142930"/>
            <a:ext cx="1640205" cy="606375"/>
            <a:chOff x="3885992" y="2627013"/>
            <a:chExt cx="3810000" cy="1125837"/>
          </a:xfrm>
        </p:grpSpPr>
        <p:sp>
          <p:nvSpPr>
            <p:cNvPr id="192" name="Google Shape;192;p19"/>
            <p:cNvSpPr/>
            <p:nvPr/>
          </p:nvSpPr>
          <p:spPr>
            <a:xfrm>
              <a:off x="4762500" y="3676650"/>
              <a:ext cx="76200" cy="76200"/>
            </a:xfrm>
            <a:prstGeom prst="rect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3885992" y="2627013"/>
              <a:ext cx="381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0" i="0" lang="en" sz="1125" u="none" cap="none" strike="noStrike">
                  <a:solidFill>
                    <a:srgbClr val="F8F9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Fragmented Guidelin</a:t>
              </a:r>
              <a:endParaRPr b="0" i="0" sz="1125" u="none" cap="none" strike="noStrike">
                <a:solidFill>
                  <a:srgbClr val="F8F9F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F8F9F8"/>
                  </a:solidFill>
                  <a:latin typeface="Inter"/>
                  <a:ea typeface="Inter"/>
                  <a:cs typeface="Inter"/>
                  <a:sym typeface="Inter"/>
                </a:rPr>
                <a:t>Disposal guidelines are split across varius municipal websites and physical flyers, requiring slow and tedious manual searches.</a:t>
              </a:r>
              <a:endParaRPr b="0" i="0" sz="1050" u="none" cap="none" strike="noStrike">
                <a:solidFill>
                  <a:srgbClr val="F8F9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4" name="Google Shape;194;p19"/>
          <p:cNvSpPr txBox="1"/>
          <p:nvPr/>
        </p:nvSpPr>
        <p:spPr>
          <a:xfrm>
            <a:off x="781050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PAGE 06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381000" y="876300"/>
            <a:ext cx="838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APP-FLOW DIAGRAM</a:t>
            </a:r>
            <a:endParaRPr b="0" i="0" sz="1500" u="none" cap="none" strike="noStrike">
              <a:solidFill>
                <a:srgbClr val="1A2B2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196" name="Google Shape;196;p19" title="mermaid-sequence-2026-09-15T18-51-0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7638" y="1182700"/>
            <a:ext cx="4013235" cy="3437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34600" cy="5048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0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20"/>
          <p:cNvSpPr txBox="1"/>
          <p:nvPr/>
        </p:nvSpPr>
        <p:spPr>
          <a:xfrm>
            <a:off x="381000" y="876300"/>
            <a:ext cx="8382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WASTE IDENTIFICATION &amp; DISPOSAL GUIDANCE</a:t>
            </a:r>
            <a:endParaRPr b="0" i="0" sz="1500" u="none" cap="none" strike="noStrike">
              <a:solidFill>
                <a:srgbClr val="1A2B22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>
            <a:off x="1238250" y="1285875"/>
            <a:ext cx="3048000" cy="3333900"/>
            <a:chOff x="0" y="0"/>
            <a:chExt cx="3048000" cy="3333900"/>
          </a:xfrm>
        </p:grpSpPr>
        <p:sp>
          <p:nvSpPr>
            <p:cNvPr id="206" name="Google Shape;206;p20"/>
            <p:cNvSpPr/>
            <p:nvPr/>
          </p:nvSpPr>
          <p:spPr>
            <a:xfrm>
              <a:off x="0" y="0"/>
              <a:ext cx="3048000" cy="33339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4300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0" y="0"/>
              <a:ext cx="3048000" cy="38100"/>
            </a:xfrm>
            <a:prstGeom prst="roundRect">
              <a:avLst>
                <a:gd fmla="val 50000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142875" y="133350"/>
              <a:ext cx="2762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A2B2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1. IMAGE CAPTURE &amp; UPLOAD</a:t>
              </a:r>
              <a:endParaRPr b="1" i="0" sz="1100" u="none" cap="none" strike="noStrike">
                <a:solidFill>
                  <a:srgbClr val="1A2B2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09" name="Google Shape;209;p20"/>
          <p:cNvGrpSpPr/>
          <p:nvPr/>
        </p:nvGrpSpPr>
        <p:grpSpPr>
          <a:xfrm>
            <a:off x="4857750" y="1285875"/>
            <a:ext cx="3048000" cy="3333900"/>
            <a:chOff x="0" y="0"/>
            <a:chExt cx="3048000" cy="3333900"/>
          </a:xfrm>
        </p:grpSpPr>
        <p:sp>
          <p:nvSpPr>
            <p:cNvPr id="210" name="Google Shape;210;p20"/>
            <p:cNvSpPr/>
            <p:nvPr/>
          </p:nvSpPr>
          <p:spPr>
            <a:xfrm>
              <a:off x="0" y="0"/>
              <a:ext cx="3048000" cy="33339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4300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0" y="0"/>
              <a:ext cx="3048000" cy="38100"/>
            </a:xfrm>
            <a:prstGeom prst="roundRect">
              <a:avLst>
                <a:gd fmla="val 50000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142875" y="133350"/>
              <a:ext cx="2762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A2B2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2. DISPOSAL GUIDANCE</a:t>
              </a:r>
              <a:endParaRPr b="1" i="0" sz="1100" u="none" cap="none" strike="noStrike">
                <a:solidFill>
                  <a:srgbClr val="1A2B2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381000" y="4762500"/>
            <a:ext cx="8382000" cy="285750"/>
            <a:chOff x="381000" y="4762500"/>
            <a:chExt cx="8382000" cy="285750"/>
          </a:xfrm>
        </p:grpSpPr>
        <p:cxnSp>
          <p:nvCxnSpPr>
            <p:cNvPr id="214" name="Google Shape;214;p20"/>
            <p:cNvCxnSpPr/>
            <p:nvPr/>
          </p:nvCxnSpPr>
          <p:spPr>
            <a:xfrm>
              <a:off x="381000" y="47625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5" name="Google Shape;215;p20"/>
            <p:cNvSpPr txBox="1"/>
            <p:nvPr/>
          </p:nvSpPr>
          <p:spPr>
            <a:xfrm>
              <a:off x="381000" y="485775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" sz="750" u="none" cap="none" strike="noStrike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SOFTWARE ENGINEERING PROTOTYPE</a:t>
              </a:r>
              <a:endParaRPr b="0" i="0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6" name="Google Shape;216;p20"/>
          <p:cNvGrpSpPr/>
          <p:nvPr/>
        </p:nvGrpSpPr>
        <p:grpSpPr>
          <a:xfrm>
            <a:off x="381000" y="285750"/>
            <a:ext cx="2202900" cy="285900"/>
            <a:chOff x="0" y="0"/>
            <a:chExt cx="2202900" cy="285900"/>
          </a:xfrm>
        </p:grpSpPr>
        <p:sp>
          <p:nvSpPr>
            <p:cNvPr id="217" name="Google Shape;217;p20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304800" y="0"/>
              <a:ext cx="1898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" sz="1350" u="none" cap="none" strike="noStrike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 MOBILE APP</a:t>
              </a:r>
              <a:endParaRPr b="0" i="0" sz="135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pic>
        <p:nvPicPr>
          <p:cNvPr id="221" name="Google Shape;221;p20" title="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1993" y="72"/>
            <a:ext cx="761999" cy="76193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781050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PAGE 07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3" name="Google Shape;223;p20" title="Screenshot iPhone 17 Pro 15-09-2026 at 11.43.58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1800" y="1602750"/>
            <a:ext cx="1340899" cy="2915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title="Screenshot iPhone 17 Pro 15-09-2026 at 11.44.07 P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1423" y="1602763"/>
            <a:ext cx="1340899" cy="2915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21"/>
          <p:cNvCxnSpPr/>
          <p:nvPr/>
        </p:nvCxnSpPr>
        <p:spPr>
          <a:xfrm>
            <a:off x="381000" y="7620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1" name="Google Shape;231;p21"/>
          <p:cNvGrpSpPr/>
          <p:nvPr/>
        </p:nvGrpSpPr>
        <p:grpSpPr>
          <a:xfrm>
            <a:off x="381000" y="285750"/>
            <a:ext cx="2202900" cy="285900"/>
            <a:chOff x="0" y="0"/>
            <a:chExt cx="2202900" cy="285900"/>
          </a:xfrm>
        </p:grpSpPr>
        <p:sp>
          <p:nvSpPr>
            <p:cNvPr id="232" name="Google Shape;232;p21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16666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57150" y="571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85725" y="85725"/>
              <a:ext cx="57300" cy="573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1"/>
            <p:cNvSpPr txBox="1"/>
            <p:nvPr/>
          </p:nvSpPr>
          <p:spPr>
            <a:xfrm>
              <a:off x="304800" y="0"/>
              <a:ext cx="1898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" sz="1350" u="none" cap="none" strike="noStrike">
                  <a:solidFill>
                    <a:srgbClr val="1A2B22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SORTIFY MOBILE APP</a:t>
              </a:r>
              <a:endParaRPr b="0" i="0" sz="1350" u="none" cap="none" strike="noStrike">
                <a:solidFill>
                  <a:srgbClr val="1A2B22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cxnSp>
        <p:nvCxnSpPr>
          <p:cNvPr id="236" name="Google Shape;236;p21"/>
          <p:cNvCxnSpPr/>
          <p:nvPr/>
        </p:nvCxnSpPr>
        <p:spPr>
          <a:xfrm>
            <a:off x="381000" y="4762500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1DC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21"/>
          <p:cNvSpPr txBox="1"/>
          <p:nvPr/>
        </p:nvSpPr>
        <p:spPr>
          <a:xfrm>
            <a:off x="381000" y="48577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SOFTWARE ENGINEERING PROTOTYPE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8" name="Google Shape;238;p21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3" y="72"/>
            <a:ext cx="761999" cy="7619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" name="Google Shape;239;p21"/>
          <p:cNvGrpSpPr/>
          <p:nvPr/>
        </p:nvGrpSpPr>
        <p:grpSpPr>
          <a:xfrm>
            <a:off x="3710423" y="2463588"/>
            <a:ext cx="1640205" cy="857400"/>
            <a:chOff x="3970255" y="2947563"/>
            <a:chExt cx="3810000" cy="857400"/>
          </a:xfrm>
        </p:grpSpPr>
        <p:sp>
          <p:nvSpPr>
            <p:cNvPr id="240" name="Google Shape;240;p21"/>
            <p:cNvSpPr/>
            <p:nvPr/>
          </p:nvSpPr>
          <p:spPr>
            <a:xfrm>
              <a:off x="4762500" y="3676650"/>
              <a:ext cx="76200" cy="76200"/>
            </a:xfrm>
            <a:prstGeom prst="rect">
              <a:avLst/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1"/>
            <p:cNvSpPr txBox="1"/>
            <p:nvPr/>
          </p:nvSpPr>
          <p:spPr>
            <a:xfrm>
              <a:off x="3970255" y="2947563"/>
              <a:ext cx="381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25"/>
                <a:buFont typeface="Arial"/>
                <a:buNone/>
              </a:pPr>
              <a:r>
                <a:rPr b="0" i="0" lang="en" sz="1125" u="none" cap="none" strike="noStrike">
                  <a:solidFill>
                    <a:srgbClr val="1A2B22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Fragmented Guidelin</a:t>
              </a:r>
              <a:endParaRPr b="0" i="0" sz="1125" u="none" cap="none" strike="noStrike">
                <a:solidFill>
                  <a:srgbClr val="1A2B22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" sz="1050" u="none" cap="none" strike="noStrike">
                  <a:solidFill>
                    <a:srgbClr val="4A5D53"/>
                  </a:solidFill>
                  <a:latin typeface="Inter"/>
                  <a:ea typeface="Inter"/>
                  <a:cs typeface="Inter"/>
                  <a:sym typeface="Inter"/>
                </a:rPr>
                <a:t>Disposal guidelines are split across varius municipal websites and physical flyers, requiring slow and tedious manual searches.</a:t>
              </a:r>
              <a:endParaRPr b="0" i="0" sz="10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p21"/>
          <p:cNvGrpSpPr/>
          <p:nvPr/>
        </p:nvGrpSpPr>
        <p:grpSpPr>
          <a:xfrm>
            <a:off x="2092490" y="1011081"/>
            <a:ext cx="4959020" cy="3444288"/>
            <a:chOff x="381000" y="1809750"/>
            <a:chExt cx="4000500" cy="2571900"/>
          </a:xfrm>
        </p:grpSpPr>
        <p:sp>
          <p:nvSpPr>
            <p:cNvPr id="243" name="Google Shape;243;p21"/>
            <p:cNvSpPr/>
            <p:nvPr/>
          </p:nvSpPr>
          <p:spPr>
            <a:xfrm>
              <a:off x="381000" y="1809750"/>
              <a:ext cx="4000500" cy="2571900"/>
            </a:xfrm>
            <a:prstGeom prst="roundRect">
              <a:avLst>
                <a:gd fmla="val 2222" name="adj"/>
              </a:avLst>
            </a:prstGeom>
            <a:solidFill>
              <a:srgbClr val="E9EFEA"/>
            </a:solidFill>
            <a:ln cap="flat" cmpd="sng" w="9525">
              <a:solidFill>
                <a:srgbClr val="D1DC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381000" y="1809750"/>
              <a:ext cx="57300" cy="2571900"/>
            </a:xfrm>
            <a:prstGeom prst="roundRect">
              <a:avLst>
                <a:gd fmla="val 33333" name="adj"/>
              </a:avLst>
            </a:prstGeom>
            <a:solidFill>
              <a:srgbClr val="2E8B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1"/>
            <p:cNvSpPr txBox="1"/>
            <p:nvPr/>
          </p:nvSpPr>
          <p:spPr>
            <a:xfrm>
              <a:off x="1333510" y="1871908"/>
              <a:ext cx="2095500" cy="22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" sz="1200" u="none" cap="none" strike="noStrike">
                  <a:solidFill>
                    <a:srgbClr val="1A2B2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Admin Dashboard</a:t>
              </a:r>
              <a:endParaRPr b="0" i="0" sz="950" u="none" cap="none" strike="noStrike">
                <a:solidFill>
                  <a:srgbClr val="4A5D53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246" name="Google Shape;246;p21"/>
          <p:cNvSpPr txBox="1"/>
          <p:nvPr/>
        </p:nvSpPr>
        <p:spPr>
          <a:xfrm>
            <a:off x="781050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4A5D53"/>
                </a:solidFill>
                <a:latin typeface="Inter"/>
                <a:ea typeface="Inter"/>
                <a:cs typeface="Inter"/>
                <a:sym typeface="Inter"/>
              </a:rPr>
              <a:t>PAGE 08</a:t>
            </a:r>
            <a:endParaRPr b="0" i="0" sz="750" u="none" cap="none" strike="noStrike">
              <a:solidFill>
                <a:srgbClr val="4A5D5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7" name="Google Shape;247;p21" title="Screenshot iPhone 17 Pro 15-09-2026 at 11.48.09 P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4188" y="1293925"/>
            <a:ext cx="1435624" cy="3121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