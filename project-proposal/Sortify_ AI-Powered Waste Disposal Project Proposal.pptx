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</p:sldIdLst>
  <p:sldSz cy="5143500" cx="9144000"/>
  <p:notesSz cx="6858000" cy="9144000"/>
  <p:embeddedFontLst>
    <p:embeddedFont>
      <p:font typeface="Roboto Mono Medium"/>
      <p:regular r:id="rId10"/>
      <p:bold r:id="rId11"/>
      <p:italic r:id="rId12"/>
      <p:boldItalic r:id="rId13"/>
    </p:embeddedFont>
    <p:embeddedFont>
      <p:font typeface="Inter SemiBold"/>
      <p:regular r:id="rId14"/>
      <p:bold r:id="rId15"/>
      <p:italic r:id="rId16"/>
      <p:boldItalic r:id="rId17"/>
    </p:embeddedFont>
    <p:embeddedFont>
      <p:font typeface="Inter"/>
      <p:regular r:id="rId18"/>
      <p:bold r:id="rId19"/>
      <p:italic r:id="rId20"/>
      <p:boldItalic r:id="rId21"/>
    </p:embeddedFont>
    <p:embeddedFont>
      <p:font typeface="Inter ExtraBold"/>
      <p:bold r:id="rId22"/>
      <p:boldItalic r:id="rId23"/>
    </p:embeddedFont>
    <p:embeddedFont>
      <p:font typeface="Roboto Mono"/>
      <p:bold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Inter-italic.fntdata"/><Relationship Id="rId22" Type="http://schemas.openxmlformats.org/officeDocument/2006/relationships/font" Target="fonts/InterExtraBold-bold.fntdata"/><Relationship Id="rId21" Type="http://schemas.openxmlformats.org/officeDocument/2006/relationships/font" Target="fonts/Inter-boldItalic.fntdata"/><Relationship Id="rId24" Type="http://schemas.openxmlformats.org/officeDocument/2006/relationships/font" Target="fonts/RobotoMono-bold.fntdata"/><Relationship Id="rId23" Type="http://schemas.openxmlformats.org/officeDocument/2006/relationships/font" Target="fonts/InterExtraBold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5" Type="http://schemas.openxmlformats.org/officeDocument/2006/relationships/font" Target="fonts/RobotoMono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font" Target="fonts/RobotoMonoMedium-bold.fntdata"/><Relationship Id="rId10" Type="http://schemas.openxmlformats.org/officeDocument/2006/relationships/font" Target="fonts/RobotoMonoMedium-regular.fntdata"/><Relationship Id="rId13" Type="http://schemas.openxmlformats.org/officeDocument/2006/relationships/font" Target="fonts/RobotoMonoMedium-boldItalic.fntdata"/><Relationship Id="rId12" Type="http://schemas.openxmlformats.org/officeDocument/2006/relationships/font" Target="fonts/RobotoMonoMedium-italic.fntdata"/><Relationship Id="rId15" Type="http://schemas.openxmlformats.org/officeDocument/2006/relationships/font" Target="fonts/InterSemiBold-bold.fntdata"/><Relationship Id="rId14" Type="http://schemas.openxmlformats.org/officeDocument/2006/relationships/font" Target="fonts/InterSemiBold-regular.fntdata"/><Relationship Id="rId17" Type="http://schemas.openxmlformats.org/officeDocument/2006/relationships/font" Target="fonts/InterSemiBold-boldItalic.fntdata"/><Relationship Id="rId16" Type="http://schemas.openxmlformats.org/officeDocument/2006/relationships/font" Target="fonts/InterSemiBold-italic.fntdata"/><Relationship Id="rId19" Type="http://schemas.openxmlformats.org/officeDocument/2006/relationships/font" Target="fonts/Inter-bold.fntdata"/><Relationship Id="rId18" Type="http://schemas.openxmlformats.org/officeDocument/2006/relationships/font" Target="fonts/Inter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3f6d721b5c9_16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" name="Google Shape;53;g3f6d721b5c9_16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f6d721b5c9_15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f6d721b5c9_15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f6d721b5c9_14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f6d721b5c9_14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f6d721b5c9_13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f6d721b5c9_13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(g3f6d721b5c9_12_0)">
  <p:cSld name="Generated (g3f6d721b5c9_12_0)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2" name="Google Shape;12;p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3" name="Google Shape;13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6" name="Google Shape;16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0" name="Google Shape;20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3" name="Google Shape;23;p6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6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8" name="Google Shape;2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8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1" name="Google Shape;31;p8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2" name="Google Shape;32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9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5" name="Google Shape;35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10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9" name="Google Shape;39;p10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0" name="Google Shape;40;p10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1" name="Google Shape;41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1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4" name="Google Shape;44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2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7" name="Google Shape;47;p12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8" name="Google Shape;48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9F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6" name="Google Shape;56;p14"/>
          <p:cNvGrpSpPr/>
          <p:nvPr/>
        </p:nvGrpSpPr>
        <p:grpSpPr>
          <a:xfrm>
            <a:off x="381000" y="381000"/>
            <a:ext cx="1733700" cy="285900"/>
            <a:chOff x="0" y="0"/>
            <a:chExt cx="1733700" cy="285900"/>
          </a:xfrm>
        </p:grpSpPr>
        <p:sp>
          <p:nvSpPr>
            <p:cNvPr id="57" name="Google Shape;57;p14"/>
            <p:cNvSpPr/>
            <p:nvPr/>
          </p:nvSpPr>
          <p:spPr>
            <a:xfrm>
              <a:off x="0" y="0"/>
              <a:ext cx="228600" cy="228600"/>
            </a:xfrm>
            <a:prstGeom prst="roundRect">
              <a:avLst>
                <a:gd fmla="val 16666" name="adj"/>
              </a:avLst>
            </a:prstGeom>
            <a:solidFill>
              <a:srgbClr val="2E8B5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14"/>
            <p:cNvSpPr/>
            <p:nvPr/>
          </p:nvSpPr>
          <p:spPr>
            <a:xfrm>
              <a:off x="57150" y="57150"/>
              <a:ext cx="114300" cy="1143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14"/>
            <p:cNvSpPr/>
            <p:nvPr/>
          </p:nvSpPr>
          <p:spPr>
            <a:xfrm>
              <a:off x="85725" y="85725"/>
              <a:ext cx="57300" cy="57300"/>
            </a:xfrm>
            <a:prstGeom prst="ellipse">
              <a:avLst/>
            </a:prstGeom>
            <a:solidFill>
              <a:srgbClr val="2E8B5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" name="Google Shape;60;p14"/>
            <p:cNvSpPr txBox="1"/>
            <p:nvPr/>
          </p:nvSpPr>
          <p:spPr>
            <a:xfrm>
              <a:off x="304800" y="0"/>
              <a:ext cx="14289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800">
                  <a:solidFill>
                    <a:srgbClr val="1A2B22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SORTIFY</a:t>
              </a:r>
              <a:endParaRPr b="0" sz="1800">
                <a:solidFill>
                  <a:srgbClr val="1A2B22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</p:txBody>
        </p:sp>
      </p:grpSp>
      <p:grpSp>
        <p:nvGrpSpPr>
          <p:cNvPr id="61" name="Google Shape;61;p14"/>
          <p:cNvGrpSpPr/>
          <p:nvPr/>
        </p:nvGrpSpPr>
        <p:grpSpPr>
          <a:xfrm>
            <a:off x="381000" y="4762500"/>
            <a:ext cx="8382000" cy="285750"/>
            <a:chOff x="381000" y="4762500"/>
            <a:chExt cx="8382000" cy="285750"/>
          </a:xfrm>
        </p:grpSpPr>
        <p:cxnSp>
          <p:nvCxnSpPr>
            <p:cNvPr id="62" name="Google Shape;62;p14"/>
            <p:cNvCxnSpPr/>
            <p:nvPr/>
          </p:nvCxnSpPr>
          <p:spPr>
            <a:xfrm>
              <a:off x="381000" y="4762500"/>
              <a:ext cx="8382000" cy="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D1DCD6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63" name="Google Shape;63;p14"/>
            <p:cNvSpPr txBox="1"/>
            <p:nvPr/>
          </p:nvSpPr>
          <p:spPr>
            <a:xfrm>
              <a:off x="381000" y="4857750"/>
              <a:ext cx="28575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750">
                  <a:solidFill>
                    <a:srgbClr val="4A5D53"/>
                  </a:solidFill>
                  <a:latin typeface="Inter"/>
                  <a:ea typeface="Inter"/>
                  <a:cs typeface="Inter"/>
                  <a:sym typeface="Inter"/>
                </a:rPr>
                <a:t>SOFTWARE ENGINEERING PROPOSAL</a:t>
              </a:r>
              <a:endParaRPr b="0" sz="750">
                <a:solidFill>
                  <a:srgbClr val="4A5D53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64" name="Google Shape;64;p14"/>
            <p:cNvSpPr txBox="1"/>
            <p:nvPr/>
          </p:nvSpPr>
          <p:spPr>
            <a:xfrm>
              <a:off x="7810500" y="4857750"/>
              <a:ext cx="9525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750">
                  <a:solidFill>
                    <a:srgbClr val="4A5D53"/>
                  </a:solidFill>
                  <a:latin typeface="Inter"/>
                  <a:ea typeface="Inter"/>
                  <a:cs typeface="Inter"/>
                  <a:sym typeface="Inter"/>
                </a:rPr>
                <a:t>PAGE 01</a:t>
              </a:r>
              <a:endParaRPr b="0" sz="750">
                <a:solidFill>
                  <a:srgbClr val="4A5D53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65" name="Google Shape;65;p14"/>
          <p:cNvSpPr txBox="1"/>
          <p:nvPr/>
        </p:nvSpPr>
        <p:spPr>
          <a:xfrm>
            <a:off x="762000" y="1714500"/>
            <a:ext cx="7620000" cy="171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050">
                <a:solidFill>
                  <a:srgbClr val="1A2B22"/>
                </a:solidFill>
                <a:latin typeface="Inter"/>
                <a:ea typeface="Inter"/>
                <a:cs typeface="Inter"/>
                <a:sym typeface="Inter"/>
              </a:rPr>
              <a:t>Sortify</a:t>
            </a:r>
            <a:endParaRPr b="1" sz="4050">
              <a:solidFill>
                <a:srgbClr val="1A2B22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800">
                <a:solidFill>
                  <a:srgbClr val="2E8B57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AI-powered waste identification &amp; disposal guidance</a:t>
            </a:r>
            <a:endParaRPr b="0" sz="1800">
              <a:solidFill>
                <a:srgbClr val="2E8B57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Google Shape;70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1" name="Google Shape;71;p15"/>
          <p:cNvGrpSpPr/>
          <p:nvPr/>
        </p:nvGrpSpPr>
        <p:grpSpPr>
          <a:xfrm>
            <a:off x="381000" y="285750"/>
            <a:ext cx="1733700" cy="285900"/>
            <a:chOff x="0" y="0"/>
            <a:chExt cx="1733700" cy="285900"/>
          </a:xfrm>
        </p:grpSpPr>
        <p:sp>
          <p:nvSpPr>
            <p:cNvPr id="72" name="Google Shape;72;p15"/>
            <p:cNvSpPr/>
            <p:nvPr/>
          </p:nvSpPr>
          <p:spPr>
            <a:xfrm>
              <a:off x="0" y="0"/>
              <a:ext cx="228600" cy="228600"/>
            </a:xfrm>
            <a:prstGeom prst="roundRect">
              <a:avLst>
                <a:gd fmla="val 16666" name="adj"/>
              </a:avLst>
            </a:prstGeom>
            <a:solidFill>
              <a:srgbClr val="2E8B5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15"/>
            <p:cNvSpPr/>
            <p:nvPr/>
          </p:nvSpPr>
          <p:spPr>
            <a:xfrm>
              <a:off x="57150" y="57150"/>
              <a:ext cx="114300" cy="1143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15"/>
            <p:cNvSpPr/>
            <p:nvPr/>
          </p:nvSpPr>
          <p:spPr>
            <a:xfrm>
              <a:off x="85725" y="85725"/>
              <a:ext cx="57300" cy="57300"/>
            </a:xfrm>
            <a:prstGeom prst="ellipse">
              <a:avLst/>
            </a:prstGeom>
            <a:solidFill>
              <a:srgbClr val="2E8B5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15"/>
            <p:cNvSpPr txBox="1"/>
            <p:nvPr/>
          </p:nvSpPr>
          <p:spPr>
            <a:xfrm>
              <a:off x="304800" y="0"/>
              <a:ext cx="14289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350">
                  <a:solidFill>
                    <a:srgbClr val="1A2B22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SORTIFY</a:t>
              </a:r>
              <a:endParaRPr b="0" sz="1350">
                <a:solidFill>
                  <a:srgbClr val="1A2B22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</p:txBody>
        </p:sp>
      </p:grpSp>
      <p:cxnSp>
        <p:nvCxnSpPr>
          <p:cNvPr id="76" name="Google Shape;76;p15"/>
          <p:cNvCxnSpPr/>
          <p:nvPr/>
        </p:nvCxnSpPr>
        <p:spPr>
          <a:xfrm>
            <a:off x="381000" y="762000"/>
            <a:ext cx="8382000" cy="0"/>
          </a:xfrm>
          <a:prstGeom prst="straightConnector1">
            <a:avLst/>
          </a:prstGeom>
          <a:solidFill>
            <a:srgbClr val="FFFFFF"/>
          </a:solidFill>
          <a:ln cap="flat" cmpd="sng" w="9525">
            <a:solidFill>
              <a:srgbClr val="D1DC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7" name="Google Shape;77;p15"/>
          <p:cNvSpPr txBox="1"/>
          <p:nvPr/>
        </p:nvSpPr>
        <p:spPr>
          <a:xfrm>
            <a:off x="381000" y="952500"/>
            <a:ext cx="83820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1A2B22"/>
                </a:solidFill>
                <a:latin typeface="Inter"/>
                <a:ea typeface="Inter"/>
                <a:cs typeface="Inter"/>
                <a:sym typeface="Inter"/>
              </a:rPr>
              <a:t>Improper waste segregation drives contamination and demands an accessible, point-of-disposal solution.</a:t>
            </a:r>
            <a:endParaRPr b="1" sz="1800">
              <a:solidFill>
                <a:srgbClr val="1A2B2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78" name="Google Shape;78;p15"/>
          <p:cNvGrpSpPr/>
          <p:nvPr/>
        </p:nvGrpSpPr>
        <p:grpSpPr>
          <a:xfrm>
            <a:off x="381000" y="1809750"/>
            <a:ext cx="4000500" cy="2571900"/>
            <a:chOff x="381000" y="1809750"/>
            <a:chExt cx="4000500" cy="2571900"/>
          </a:xfrm>
        </p:grpSpPr>
        <p:sp>
          <p:nvSpPr>
            <p:cNvPr id="79" name="Google Shape;79;p15"/>
            <p:cNvSpPr/>
            <p:nvPr/>
          </p:nvSpPr>
          <p:spPr>
            <a:xfrm>
              <a:off x="381000" y="1809750"/>
              <a:ext cx="4000500" cy="2571900"/>
            </a:xfrm>
            <a:prstGeom prst="roundRect">
              <a:avLst>
                <a:gd fmla="val 2222" name="adj"/>
              </a:avLst>
            </a:prstGeom>
            <a:solidFill>
              <a:srgbClr val="E9EFEA"/>
            </a:solidFill>
            <a:ln cap="flat" cmpd="sng" w="9525">
              <a:solidFill>
                <a:srgbClr val="D1DCD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15"/>
            <p:cNvSpPr/>
            <p:nvPr/>
          </p:nvSpPr>
          <p:spPr>
            <a:xfrm>
              <a:off x="381000" y="1809750"/>
              <a:ext cx="57300" cy="2571900"/>
            </a:xfrm>
            <a:prstGeom prst="roundRect">
              <a:avLst>
                <a:gd fmla="val 33333" name="adj"/>
              </a:avLst>
            </a:prstGeom>
            <a:solidFill>
              <a:srgbClr val="2E8B5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15"/>
            <p:cNvSpPr/>
            <p:nvPr/>
          </p:nvSpPr>
          <p:spPr>
            <a:xfrm>
              <a:off x="571500" y="2095500"/>
              <a:ext cx="381000" cy="381000"/>
            </a:xfrm>
            <a:prstGeom prst="ellipse">
              <a:avLst/>
            </a:prstGeom>
            <a:solidFill>
              <a:srgbClr val="FFFFFF"/>
            </a:solidFill>
            <a:ln cap="flat" cmpd="sng" w="9525">
              <a:solidFill>
                <a:srgbClr val="D1DCD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82" name="Google Shape;82;p15"/>
            <p:cNvGrpSpPr/>
            <p:nvPr/>
          </p:nvGrpSpPr>
          <p:grpSpPr>
            <a:xfrm>
              <a:off x="685800" y="2190750"/>
              <a:ext cx="152400" cy="190500"/>
              <a:chOff x="38100" y="19050"/>
              <a:chExt cx="152400" cy="190500"/>
            </a:xfrm>
          </p:grpSpPr>
          <p:sp>
            <p:nvSpPr>
              <p:cNvPr id="83" name="Google Shape;83;p15"/>
              <p:cNvSpPr/>
              <p:nvPr/>
            </p:nvSpPr>
            <p:spPr>
              <a:xfrm>
                <a:off x="38100" y="19050"/>
                <a:ext cx="152400" cy="190500"/>
              </a:xfrm>
              <a:custGeom>
                <a:rect b="b" l="l" r="r" t="t"/>
                <a:pathLst>
                  <a:path extrusionOk="0" h="120000" w="120000">
                    <a:moveTo>
                      <a:pt x="60000" y="120000"/>
                    </a:moveTo>
                    <a:lnTo>
                      <a:pt x="120000" y="96000"/>
                    </a:lnTo>
                    <a:lnTo>
                      <a:pt x="120000" y="60000"/>
                    </a:lnTo>
                    <a:lnTo>
                      <a:pt x="120000" y="18000"/>
                    </a:lnTo>
                    <a:lnTo>
                      <a:pt x="60000" y="0"/>
                    </a:lnTo>
                    <a:lnTo>
                      <a:pt x="0" y="18000"/>
                    </a:lnTo>
                    <a:lnTo>
                      <a:pt x="0" y="60000"/>
                    </a:lnTo>
                    <a:cubicBezTo>
                      <a:pt x="0" y="96000"/>
                      <a:pt x="60000" y="120000"/>
                      <a:pt x="60000" y="12000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cap="rnd" cmpd="sng" w="19050">
                <a:solidFill>
                  <a:srgbClr val="2E8B57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4" name="Google Shape;84;p15"/>
              <p:cNvSpPr/>
              <p:nvPr/>
            </p:nvSpPr>
            <p:spPr>
              <a:xfrm>
                <a:off x="85725" y="95250"/>
                <a:ext cx="57300" cy="38100"/>
              </a:xfrm>
              <a:custGeom>
                <a:rect b="b" l="l" r="r" t="t"/>
                <a:pathLst>
                  <a:path extrusionOk="0" h="120000" w="120000">
                    <a:moveTo>
                      <a:pt x="0" y="60000"/>
                    </a:moveTo>
                    <a:lnTo>
                      <a:pt x="40000" y="120000"/>
                    </a:lnTo>
                    <a:lnTo>
                      <a:pt x="120000" y="0"/>
                    </a:lnTo>
                  </a:path>
                </a:pathLst>
              </a:custGeom>
              <a:solidFill>
                <a:srgbClr val="000000">
                  <a:alpha val="0"/>
                </a:srgbClr>
              </a:solidFill>
              <a:ln cap="rnd" cmpd="sng" w="19050">
                <a:solidFill>
                  <a:srgbClr val="2E8B57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85" name="Google Shape;85;p15"/>
            <p:cNvSpPr txBox="1"/>
            <p:nvPr/>
          </p:nvSpPr>
          <p:spPr>
            <a:xfrm>
              <a:off x="666750" y="2667000"/>
              <a:ext cx="3429000" cy="152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1E5631"/>
                  </a:solidFill>
                  <a:latin typeface="Roboto Mono Medium"/>
                  <a:ea typeface="Roboto Mono Medium"/>
                  <a:cs typeface="Roboto Mono Medium"/>
                  <a:sym typeface="Roboto Mono Medium"/>
                </a:rPr>
                <a:t>THE OPPORTUNITY</a:t>
              </a:r>
              <a:endParaRPr b="0" sz="900">
                <a:solidFill>
                  <a:srgbClr val="1E5631"/>
                </a:solidFill>
                <a:latin typeface="Roboto Mono Medium"/>
                <a:ea typeface="Roboto Mono Medium"/>
                <a:cs typeface="Roboto Mono Medium"/>
                <a:sym typeface="Roboto Mono Medium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200">
                  <a:solidFill>
                    <a:srgbClr val="1A2B22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Mobile Camera-Based Assistance</a:t>
              </a:r>
              <a:endParaRPr b="0" sz="1200">
                <a:solidFill>
                  <a:srgbClr val="1A2B22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0" lang="en" sz="1050">
                  <a:solidFill>
                    <a:srgbClr val="4A5D53"/>
                  </a:solidFill>
                  <a:latin typeface="Inter"/>
                  <a:ea typeface="Inter"/>
                  <a:cs typeface="Inter"/>
                  <a:sym typeface="Inter"/>
                </a:rPr>
                <a:t>Sortify presents a clear opportunity: a mobile camera-based assistant that makes ecological decisions extremely fast, highly accessible, and immediately actionable right at the point of disposal.</a:t>
              </a:r>
              <a:endParaRPr b="0" sz="1050">
                <a:solidFill>
                  <a:srgbClr val="4A5D53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86" name="Google Shape;86;p15"/>
          <p:cNvGrpSpPr/>
          <p:nvPr/>
        </p:nvGrpSpPr>
        <p:grpSpPr>
          <a:xfrm>
            <a:off x="4762500" y="1809750"/>
            <a:ext cx="4000500" cy="2667150"/>
            <a:chOff x="4762500" y="1809750"/>
            <a:chExt cx="4000500" cy="2667150"/>
          </a:xfrm>
        </p:grpSpPr>
        <p:grpSp>
          <p:nvGrpSpPr>
            <p:cNvPr id="87" name="Google Shape;87;p15"/>
            <p:cNvGrpSpPr/>
            <p:nvPr/>
          </p:nvGrpSpPr>
          <p:grpSpPr>
            <a:xfrm>
              <a:off x="4762500" y="1809750"/>
              <a:ext cx="4000500" cy="714300"/>
              <a:chOff x="4762500" y="1809750"/>
              <a:chExt cx="4000500" cy="714300"/>
            </a:xfrm>
          </p:grpSpPr>
          <p:sp>
            <p:nvSpPr>
              <p:cNvPr id="88" name="Google Shape;88;p15"/>
              <p:cNvSpPr/>
              <p:nvPr/>
            </p:nvSpPr>
            <p:spPr>
              <a:xfrm>
                <a:off x="4762500" y="1866900"/>
                <a:ext cx="76200" cy="76200"/>
              </a:xfrm>
              <a:prstGeom prst="rect">
                <a:avLst/>
              </a:prstGeom>
              <a:solidFill>
                <a:srgbClr val="2E8B57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9" name="Google Shape;89;p15"/>
              <p:cNvSpPr txBox="1"/>
              <p:nvPr/>
            </p:nvSpPr>
            <p:spPr>
              <a:xfrm>
                <a:off x="4953000" y="1809750"/>
                <a:ext cx="3810000" cy="714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125">
                    <a:solidFill>
                      <a:srgbClr val="1A2B22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Sorting Confusion</a:t>
                </a:r>
                <a:endParaRPr b="0" sz="1125">
                  <a:solidFill>
                    <a:srgbClr val="1A2B22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b="0" lang="en" sz="1050">
                    <a:solidFill>
                      <a:srgbClr val="4A5D53"/>
                    </a:solidFill>
                    <a:latin typeface="Inter"/>
                    <a:ea typeface="Inter"/>
                    <a:cs typeface="Inter"/>
                    <a:sym typeface="Inter"/>
                  </a:rPr>
                  <a:t>Everyday users frequently struggle to determine where specific waste items belong, leading to improper sorting.</a:t>
                </a:r>
                <a:endParaRPr b="0" sz="1050">
                  <a:solidFill>
                    <a:srgbClr val="4A5D53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90" name="Google Shape;90;p15"/>
            <p:cNvGrpSpPr/>
            <p:nvPr/>
          </p:nvGrpSpPr>
          <p:grpSpPr>
            <a:xfrm>
              <a:off x="4762500" y="2667000"/>
              <a:ext cx="4000500" cy="857400"/>
              <a:chOff x="4762500" y="2667000"/>
              <a:chExt cx="4000500" cy="857400"/>
            </a:xfrm>
          </p:grpSpPr>
          <p:sp>
            <p:nvSpPr>
              <p:cNvPr id="91" name="Google Shape;91;p15"/>
              <p:cNvSpPr/>
              <p:nvPr/>
            </p:nvSpPr>
            <p:spPr>
              <a:xfrm>
                <a:off x="4762500" y="2724150"/>
                <a:ext cx="76200" cy="76200"/>
              </a:xfrm>
              <a:prstGeom prst="rect">
                <a:avLst/>
              </a:prstGeom>
              <a:solidFill>
                <a:srgbClr val="2E8B57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2" name="Google Shape;92;p15"/>
              <p:cNvSpPr txBox="1"/>
              <p:nvPr/>
            </p:nvSpPr>
            <p:spPr>
              <a:xfrm>
                <a:off x="4953000" y="2667000"/>
                <a:ext cx="3810000" cy="857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125">
                    <a:solidFill>
                      <a:srgbClr val="1A2B22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Waste Contamination</a:t>
                </a:r>
                <a:endParaRPr b="0" sz="1125">
                  <a:solidFill>
                    <a:srgbClr val="1A2B22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b="0" lang="en" sz="1050">
                    <a:solidFill>
                      <a:srgbClr val="4A5D53"/>
                    </a:solidFill>
                    <a:latin typeface="Inter"/>
                    <a:ea typeface="Inter"/>
                    <a:cs typeface="Inter"/>
                    <a:sym typeface="Inter"/>
                  </a:rPr>
                  <a:t>This confusion directly contaminates recyclable and organic streams, while hazardous and electronic waste ends up in landfills.</a:t>
                </a:r>
                <a:endParaRPr b="0" sz="1050">
                  <a:solidFill>
                    <a:srgbClr val="4A5D53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93" name="Google Shape;93;p15"/>
            <p:cNvGrpSpPr/>
            <p:nvPr/>
          </p:nvGrpSpPr>
          <p:grpSpPr>
            <a:xfrm>
              <a:off x="4762500" y="3619500"/>
              <a:ext cx="4000500" cy="857400"/>
              <a:chOff x="4762500" y="3619500"/>
              <a:chExt cx="4000500" cy="857400"/>
            </a:xfrm>
          </p:grpSpPr>
          <p:sp>
            <p:nvSpPr>
              <p:cNvPr id="94" name="Google Shape;94;p15"/>
              <p:cNvSpPr/>
              <p:nvPr/>
            </p:nvSpPr>
            <p:spPr>
              <a:xfrm>
                <a:off x="4762500" y="3676650"/>
                <a:ext cx="76200" cy="76200"/>
              </a:xfrm>
              <a:prstGeom prst="rect">
                <a:avLst/>
              </a:prstGeom>
              <a:solidFill>
                <a:srgbClr val="2E8B57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5" name="Google Shape;95;p15"/>
              <p:cNvSpPr txBox="1"/>
              <p:nvPr/>
            </p:nvSpPr>
            <p:spPr>
              <a:xfrm>
                <a:off x="4953000" y="3619500"/>
                <a:ext cx="3810000" cy="857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125">
                    <a:solidFill>
                      <a:srgbClr val="1A2B22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Fragmented Guidelines</a:t>
                </a:r>
                <a:endParaRPr b="0" sz="1125">
                  <a:solidFill>
                    <a:srgbClr val="1A2B22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b="0" lang="en" sz="1050">
                    <a:solidFill>
                      <a:srgbClr val="4A5D53"/>
                    </a:solidFill>
                    <a:latin typeface="Inter"/>
                    <a:ea typeface="Inter"/>
                    <a:cs typeface="Inter"/>
                    <a:sym typeface="Inter"/>
                  </a:rPr>
                  <a:t>Disposal guidelines are split across various municipal websites and physical flyers, requiring slow and tedious manual searches.</a:t>
                </a:r>
                <a:endParaRPr b="0" sz="1050">
                  <a:solidFill>
                    <a:srgbClr val="4A5D53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cxnSp>
        <p:nvCxnSpPr>
          <p:cNvPr id="96" name="Google Shape;96;p15"/>
          <p:cNvCxnSpPr/>
          <p:nvPr/>
        </p:nvCxnSpPr>
        <p:spPr>
          <a:xfrm>
            <a:off x="381000" y="4762500"/>
            <a:ext cx="8382000" cy="0"/>
          </a:xfrm>
          <a:prstGeom prst="straightConnector1">
            <a:avLst/>
          </a:prstGeom>
          <a:solidFill>
            <a:srgbClr val="FFFFFF"/>
          </a:solidFill>
          <a:ln cap="flat" cmpd="sng" w="9525">
            <a:solidFill>
              <a:srgbClr val="D1DC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7" name="Google Shape;97;p15"/>
          <p:cNvSpPr txBox="1"/>
          <p:nvPr/>
        </p:nvSpPr>
        <p:spPr>
          <a:xfrm>
            <a:off x="381000" y="4857750"/>
            <a:ext cx="47625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750">
                <a:solidFill>
                  <a:srgbClr val="4A5D53"/>
                </a:solidFill>
                <a:latin typeface="Inter"/>
                <a:ea typeface="Inter"/>
                <a:cs typeface="Inter"/>
                <a:sym typeface="Inter"/>
              </a:rPr>
              <a:t>SOFTWARE ENGINEERING PROPOSAL SORTIFY SYSTEM MOTIVATION</a:t>
            </a:r>
            <a:endParaRPr b="0" sz="750">
              <a:solidFill>
                <a:srgbClr val="4A5D53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6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9F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3" name="Google Shape;103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525" y="9525"/>
            <a:ext cx="8934600" cy="50484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4" name="Google Shape;104;p16"/>
          <p:cNvGrpSpPr/>
          <p:nvPr/>
        </p:nvGrpSpPr>
        <p:grpSpPr>
          <a:xfrm>
            <a:off x="381000" y="285750"/>
            <a:ext cx="1733700" cy="285900"/>
            <a:chOff x="0" y="0"/>
            <a:chExt cx="1733700" cy="285900"/>
          </a:xfrm>
        </p:grpSpPr>
        <p:sp>
          <p:nvSpPr>
            <p:cNvPr id="105" name="Google Shape;105;p16"/>
            <p:cNvSpPr/>
            <p:nvPr/>
          </p:nvSpPr>
          <p:spPr>
            <a:xfrm>
              <a:off x="0" y="0"/>
              <a:ext cx="228600" cy="228600"/>
            </a:xfrm>
            <a:prstGeom prst="roundRect">
              <a:avLst>
                <a:gd fmla="val 16666" name="adj"/>
              </a:avLst>
            </a:prstGeom>
            <a:solidFill>
              <a:srgbClr val="2E8B5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" name="Google Shape;106;p16"/>
            <p:cNvSpPr/>
            <p:nvPr/>
          </p:nvSpPr>
          <p:spPr>
            <a:xfrm>
              <a:off x="57150" y="57150"/>
              <a:ext cx="114300" cy="1143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" name="Google Shape;107;p16"/>
            <p:cNvSpPr/>
            <p:nvPr/>
          </p:nvSpPr>
          <p:spPr>
            <a:xfrm>
              <a:off x="85725" y="85725"/>
              <a:ext cx="57300" cy="57300"/>
            </a:xfrm>
            <a:prstGeom prst="ellipse">
              <a:avLst/>
            </a:prstGeom>
            <a:solidFill>
              <a:srgbClr val="2E8B5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16"/>
            <p:cNvSpPr txBox="1"/>
            <p:nvPr/>
          </p:nvSpPr>
          <p:spPr>
            <a:xfrm>
              <a:off x="304800" y="0"/>
              <a:ext cx="14289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350">
                  <a:solidFill>
                    <a:srgbClr val="1A2B22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SORTIFY</a:t>
              </a:r>
              <a:endParaRPr b="0" sz="1350">
                <a:solidFill>
                  <a:srgbClr val="1A2B22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</p:txBody>
        </p:sp>
      </p:grpSp>
      <p:cxnSp>
        <p:nvCxnSpPr>
          <p:cNvPr id="109" name="Google Shape;109;p16"/>
          <p:cNvCxnSpPr/>
          <p:nvPr/>
        </p:nvCxnSpPr>
        <p:spPr>
          <a:xfrm>
            <a:off x="381000" y="762000"/>
            <a:ext cx="8382000" cy="0"/>
          </a:xfrm>
          <a:prstGeom prst="straightConnector1">
            <a:avLst/>
          </a:prstGeom>
          <a:solidFill>
            <a:srgbClr val="FFFFFF"/>
          </a:solidFill>
          <a:ln cap="flat" cmpd="sng" w="9525">
            <a:solidFill>
              <a:srgbClr val="D1DCD6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10" name="Google Shape;110;p16"/>
          <p:cNvGrpSpPr/>
          <p:nvPr/>
        </p:nvGrpSpPr>
        <p:grpSpPr>
          <a:xfrm>
            <a:off x="381000" y="904875"/>
            <a:ext cx="8382000" cy="952500"/>
            <a:chOff x="381000" y="904875"/>
            <a:chExt cx="8382000" cy="952500"/>
          </a:xfrm>
        </p:grpSpPr>
        <p:sp>
          <p:nvSpPr>
            <p:cNvPr id="111" name="Google Shape;111;p16"/>
            <p:cNvSpPr/>
            <p:nvPr/>
          </p:nvSpPr>
          <p:spPr>
            <a:xfrm>
              <a:off x="381000" y="904875"/>
              <a:ext cx="8382000" cy="952500"/>
            </a:xfrm>
            <a:prstGeom prst="roundRect">
              <a:avLst>
                <a:gd fmla="val 4000" name="adj"/>
              </a:avLst>
            </a:prstGeom>
            <a:solidFill>
              <a:srgbClr val="1A2B2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6"/>
            <p:cNvSpPr/>
            <p:nvPr/>
          </p:nvSpPr>
          <p:spPr>
            <a:xfrm>
              <a:off x="381000" y="904875"/>
              <a:ext cx="76200" cy="952500"/>
            </a:xfrm>
            <a:prstGeom prst="rect">
              <a:avLst/>
            </a:prstGeom>
            <a:solidFill>
              <a:srgbClr val="2E8B5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6"/>
            <p:cNvSpPr txBox="1"/>
            <p:nvPr/>
          </p:nvSpPr>
          <p:spPr>
            <a:xfrm>
              <a:off x="762000" y="1000125"/>
              <a:ext cx="76200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500">
                  <a:solidFill>
                    <a:srgbClr val="FFFFFF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Consumers lack actionable, location-specific guidance to confidently segregate complex waste materials.</a:t>
              </a:r>
              <a:endParaRPr b="0" sz="150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</p:grpSp>
      <p:grpSp>
        <p:nvGrpSpPr>
          <p:cNvPr id="114" name="Google Shape;114;p16"/>
          <p:cNvGrpSpPr/>
          <p:nvPr/>
        </p:nvGrpSpPr>
        <p:grpSpPr>
          <a:xfrm>
            <a:off x="381000" y="2047875"/>
            <a:ext cx="8382000" cy="1666800"/>
            <a:chOff x="381000" y="2047875"/>
            <a:chExt cx="8382000" cy="1666800"/>
          </a:xfrm>
        </p:grpSpPr>
        <p:sp>
          <p:nvSpPr>
            <p:cNvPr id="115" name="Google Shape;115;p16"/>
            <p:cNvSpPr txBox="1"/>
            <p:nvPr/>
          </p:nvSpPr>
          <p:spPr>
            <a:xfrm>
              <a:off x="381000" y="2047875"/>
              <a:ext cx="4000500" cy="1666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275">
                  <a:solidFill>
                    <a:srgbClr val="1E5631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Localized Sorting Barriers</a:t>
              </a:r>
              <a:endParaRPr b="0" sz="1275">
                <a:solidFill>
                  <a:srgbClr val="1E5631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88">
                  <a:solidFill>
                    <a:srgbClr val="4A5D53"/>
                  </a:solidFill>
                  <a:latin typeface="Inter"/>
                  <a:ea typeface="Inter"/>
                  <a:cs typeface="Inter"/>
                  <a:sym typeface="Inter"/>
                </a:rPr>
                <a:t>Users often cannot confidently identify the correct waste category or disposal method for everyday items. Material compositions make correct categories non-obvious to the average consumer. Furthermore, recycling rules vary significantly based on highly localized municipal regulations.</a:t>
              </a:r>
              <a:endParaRPr b="0" sz="1088">
                <a:solidFill>
                  <a:srgbClr val="4A5D53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16" name="Google Shape;116;p16"/>
            <p:cNvSpPr txBox="1"/>
            <p:nvPr/>
          </p:nvSpPr>
          <p:spPr>
            <a:xfrm>
              <a:off x="4762500" y="2047875"/>
              <a:ext cx="4000500" cy="1666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275">
                  <a:solidFill>
                    <a:srgbClr val="1E5631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Actionable Guidance Deficit</a:t>
              </a:r>
              <a:endParaRPr b="0" sz="1275">
                <a:solidFill>
                  <a:srgbClr val="1E5631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88">
                  <a:solidFill>
                    <a:srgbClr val="4A5D53"/>
                  </a:solidFill>
                  <a:latin typeface="Inter"/>
                  <a:ea typeface="Inter"/>
                  <a:cs typeface="Inter"/>
                  <a:sym typeface="Inter"/>
                </a:rPr>
                <a:t>Users require practical, local action steps (e.g., 'rinse and place in blue bin'), not just a generic machine learning object classification like 'plastic bottle.' Knowing the material class is insufficient without direct instructions for compliant local disposal.</a:t>
              </a:r>
              <a:endParaRPr b="0" sz="1088">
                <a:solidFill>
                  <a:srgbClr val="4A5D53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17" name="Google Shape;117;p16"/>
          <p:cNvGrpSpPr/>
          <p:nvPr/>
        </p:nvGrpSpPr>
        <p:grpSpPr>
          <a:xfrm>
            <a:off x="381000" y="3857625"/>
            <a:ext cx="8382000" cy="762000"/>
            <a:chOff x="381000" y="3857625"/>
            <a:chExt cx="8382000" cy="762000"/>
          </a:xfrm>
        </p:grpSpPr>
        <p:sp>
          <p:nvSpPr>
            <p:cNvPr id="118" name="Google Shape;118;p16"/>
            <p:cNvSpPr/>
            <p:nvPr/>
          </p:nvSpPr>
          <p:spPr>
            <a:xfrm>
              <a:off x="381000" y="3857625"/>
              <a:ext cx="8382000" cy="762000"/>
            </a:xfrm>
            <a:prstGeom prst="roundRect">
              <a:avLst>
                <a:gd fmla="val 5000" name="adj"/>
              </a:avLst>
            </a:prstGeom>
            <a:solidFill>
              <a:srgbClr val="FFFFFF"/>
            </a:solidFill>
            <a:ln cap="flat" cmpd="sng" w="14300">
              <a:solidFill>
                <a:srgbClr val="D9534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6"/>
            <p:cNvSpPr/>
            <p:nvPr/>
          </p:nvSpPr>
          <p:spPr>
            <a:xfrm>
              <a:off x="395288" y="3871913"/>
              <a:ext cx="61800" cy="733500"/>
            </a:xfrm>
            <a:prstGeom prst="roundRect">
              <a:avLst>
                <a:gd fmla="val 30769" name="adj"/>
              </a:avLst>
            </a:prstGeom>
            <a:solidFill>
              <a:srgbClr val="D9534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6"/>
            <p:cNvSpPr txBox="1"/>
            <p:nvPr/>
          </p:nvSpPr>
          <p:spPr>
            <a:xfrm>
              <a:off x="619125" y="3952875"/>
              <a:ext cx="79059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50">
                  <a:solidFill>
                    <a:srgbClr val="D9534F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Technical Constraint:</a:t>
              </a:r>
              <a:r>
                <a:rPr b="0" lang="en" sz="1050">
                  <a:solidFill>
                    <a:srgbClr val="D9534F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 The system must gracefully handle low-confidence machine learning predictions rather than blindly displaying incorrect classifications to the user.</a:t>
              </a:r>
              <a:endParaRPr b="0" sz="1050">
                <a:solidFill>
                  <a:srgbClr val="D9534F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</p:grpSp>
      <p:grpSp>
        <p:nvGrpSpPr>
          <p:cNvPr id="121" name="Google Shape;121;p16"/>
          <p:cNvGrpSpPr/>
          <p:nvPr/>
        </p:nvGrpSpPr>
        <p:grpSpPr>
          <a:xfrm>
            <a:off x="381000" y="4762500"/>
            <a:ext cx="8382000" cy="285750"/>
            <a:chOff x="381000" y="4762500"/>
            <a:chExt cx="8382000" cy="285750"/>
          </a:xfrm>
        </p:grpSpPr>
        <p:cxnSp>
          <p:nvCxnSpPr>
            <p:cNvPr id="122" name="Google Shape;122;p16"/>
            <p:cNvCxnSpPr/>
            <p:nvPr/>
          </p:nvCxnSpPr>
          <p:spPr>
            <a:xfrm>
              <a:off x="381000" y="4762500"/>
              <a:ext cx="8382000" cy="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D1DCD6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23" name="Google Shape;123;p16"/>
            <p:cNvSpPr txBox="1"/>
            <p:nvPr/>
          </p:nvSpPr>
          <p:spPr>
            <a:xfrm>
              <a:off x="381000" y="4857750"/>
              <a:ext cx="47625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750">
                  <a:solidFill>
                    <a:srgbClr val="4A5D53"/>
                  </a:solidFill>
                  <a:latin typeface="Inter"/>
                  <a:ea typeface="Inter"/>
                  <a:cs typeface="Inter"/>
                  <a:sym typeface="Inter"/>
                </a:rPr>
                <a:t>SOFTWARE ENGINEERING PROPOSAL</a:t>
              </a:r>
              <a:endParaRPr b="0" sz="750">
                <a:solidFill>
                  <a:srgbClr val="4A5D53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9F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9" name="Google Shape;129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525" y="9525"/>
            <a:ext cx="8972700" cy="497220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17"/>
          <p:cNvSpPr/>
          <p:nvPr/>
        </p:nvSpPr>
        <p:spPr>
          <a:xfrm>
            <a:off x="0" y="0"/>
            <a:ext cx="9144000" cy="571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31" name="Google Shape;131;p17"/>
          <p:cNvGrpSpPr/>
          <p:nvPr/>
        </p:nvGrpSpPr>
        <p:grpSpPr>
          <a:xfrm>
            <a:off x="381000" y="171450"/>
            <a:ext cx="1733700" cy="285900"/>
            <a:chOff x="0" y="0"/>
            <a:chExt cx="1733700" cy="285900"/>
          </a:xfrm>
        </p:grpSpPr>
        <p:sp>
          <p:nvSpPr>
            <p:cNvPr id="132" name="Google Shape;132;p17"/>
            <p:cNvSpPr/>
            <p:nvPr/>
          </p:nvSpPr>
          <p:spPr>
            <a:xfrm>
              <a:off x="0" y="0"/>
              <a:ext cx="228600" cy="228600"/>
            </a:xfrm>
            <a:prstGeom prst="roundRect">
              <a:avLst>
                <a:gd fmla="val 16666" name="adj"/>
              </a:avLst>
            </a:prstGeom>
            <a:solidFill>
              <a:srgbClr val="2E8B5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" name="Google Shape;133;p17"/>
            <p:cNvSpPr/>
            <p:nvPr/>
          </p:nvSpPr>
          <p:spPr>
            <a:xfrm>
              <a:off x="57150" y="57150"/>
              <a:ext cx="114300" cy="1143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" name="Google Shape;134;p17"/>
            <p:cNvSpPr/>
            <p:nvPr/>
          </p:nvSpPr>
          <p:spPr>
            <a:xfrm>
              <a:off x="85725" y="85725"/>
              <a:ext cx="57300" cy="57300"/>
            </a:xfrm>
            <a:prstGeom prst="ellipse">
              <a:avLst/>
            </a:prstGeom>
            <a:solidFill>
              <a:srgbClr val="2E8B5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" name="Google Shape;135;p17"/>
            <p:cNvSpPr txBox="1"/>
            <p:nvPr/>
          </p:nvSpPr>
          <p:spPr>
            <a:xfrm>
              <a:off x="304800" y="0"/>
              <a:ext cx="14289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350">
                  <a:solidFill>
                    <a:srgbClr val="1A2B22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SORTIFY</a:t>
              </a:r>
              <a:endParaRPr b="0" sz="1350">
                <a:solidFill>
                  <a:srgbClr val="1A2B22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</p:txBody>
        </p:sp>
      </p:grpSp>
      <p:cxnSp>
        <p:nvCxnSpPr>
          <p:cNvPr id="136" name="Google Shape;136;p17"/>
          <p:cNvCxnSpPr/>
          <p:nvPr/>
        </p:nvCxnSpPr>
        <p:spPr>
          <a:xfrm>
            <a:off x="0" y="571500"/>
            <a:ext cx="9144000" cy="0"/>
          </a:xfrm>
          <a:prstGeom prst="straightConnector1">
            <a:avLst/>
          </a:prstGeom>
          <a:solidFill>
            <a:srgbClr val="FFFFFF"/>
          </a:solidFill>
          <a:ln cap="flat" cmpd="sng" w="9525">
            <a:solidFill>
              <a:srgbClr val="D1DC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7" name="Google Shape;137;p17"/>
          <p:cNvSpPr txBox="1"/>
          <p:nvPr/>
        </p:nvSpPr>
        <p:spPr>
          <a:xfrm>
            <a:off x="2095500" y="133350"/>
            <a:ext cx="66675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500">
                <a:solidFill>
                  <a:srgbClr val="2E8B57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SYSTEM ARCHITECTURE: ML-POWERED LOCALIZATION</a:t>
            </a:r>
            <a:endParaRPr b="0" sz="1500">
              <a:solidFill>
                <a:srgbClr val="2E8B57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grpSp>
        <p:nvGrpSpPr>
          <p:cNvPr id="138" name="Google Shape;138;p17"/>
          <p:cNvGrpSpPr/>
          <p:nvPr/>
        </p:nvGrpSpPr>
        <p:grpSpPr>
          <a:xfrm>
            <a:off x="571500" y="1047750"/>
            <a:ext cx="2286000" cy="1333500"/>
            <a:chOff x="0" y="0"/>
            <a:chExt cx="2286000" cy="1333500"/>
          </a:xfrm>
        </p:grpSpPr>
        <p:sp>
          <p:nvSpPr>
            <p:cNvPr id="139" name="Google Shape;139;p17"/>
            <p:cNvSpPr/>
            <p:nvPr/>
          </p:nvSpPr>
          <p:spPr>
            <a:xfrm>
              <a:off x="0" y="0"/>
              <a:ext cx="2286000" cy="1333500"/>
            </a:xfrm>
            <a:prstGeom prst="roundRect">
              <a:avLst>
                <a:gd fmla="val 4285" name="adj"/>
              </a:avLst>
            </a:prstGeom>
            <a:solidFill>
              <a:srgbClr val="FFFFFF"/>
            </a:solidFill>
            <a:ln cap="flat" cmpd="sng" w="19050">
              <a:solidFill>
                <a:srgbClr val="D1DCD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" name="Google Shape;140;p17"/>
            <p:cNvSpPr/>
            <p:nvPr/>
          </p:nvSpPr>
          <p:spPr>
            <a:xfrm>
              <a:off x="0" y="0"/>
              <a:ext cx="2286000" cy="47700"/>
            </a:xfrm>
            <a:prstGeom prst="roundRect">
              <a:avLst>
                <a:gd fmla="val 40000" name="adj"/>
              </a:avLst>
            </a:prstGeom>
            <a:solidFill>
              <a:srgbClr val="2E8B5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41" name="Google Shape;141;p17"/>
            <p:cNvGrpSpPr/>
            <p:nvPr/>
          </p:nvGrpSpPr>
          <p:grpSpPr>
            <a:xfrm>
              <a:off x="142875" y="142875"/>
              <a:ext cx="228600" cy="228600"/>
              <a:chOff x="0" y="0"/>
              <a:chExt cx="228600" cy="228600"/>
            </a:xfrm>
          </p:grpSpPr>
          <p:sp>
            <p:nvSpPr>
              <p:cNvPr id="142" name="Google Shape;142;p17"/>
              <p:cNvSpPr/>
              <p:nvPr/>
            </p:nvSpPr>
            <p:spPr>
              <a:xfrm>
                <a:off x="0" y="0"/>
                <a:ext cx="228600" cy="228600"/>
              </a:xfrm>
              <a:prstGeom prst="roundRect">
                <a:avLst>
                  <a:gd fmla="val 16666" name="adj"/>
                </a:avLst>
              </a:prstGeom>
              <a:solidFill>
                <a:srgbClr val="E9EFEA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143" name="Google Shape;143;p17"/>
              <p:cNvGrpSpPr/>
              <p:nvPr/>
            </p:nvGrpSpPr>
            <p:grpSpPr>
              <a:xfrm>
                <a:off x="60960" y="38100"/>
                <a:ext cx="106800" cy="152400"/>
                <a:chOff x="47625" y="19050"/>
                <a:chExt cx="133500" cy="190500"/>
              </a:xfrm>
            </p:grpSpPr>
            <p:sp>
              <p:nvSpPr>
                <p:cNvPr id="144" name="Google Shape;144;p17"/>
                <p:cNvSpPr/>
                <p:nvPr/>
              </p:nvSpPr>
              <p:spPr>
                <a:xfrm>
                  <a:off x="47625" y="19050"/>
                  <a:ext cx="133500" cy="190500"/>
                </a:xfrm>
                <a:prstGeom prst="roundRect">
                  <a:avLst>
                    <a:gd fmla="val 14285" name="adj"/>
                  </a:avLst>
                </a:prstGeom>
                <a:solidFill>
                  <a:srgbClr val="000000">
                    <a:alpha val="0"/>
                  </a:srgbClr>
                </a:solidFill>
                <a:ln cap="rnd" cmpd="sng" w="19050">
                  <a:solidFill>
                    <a:srgbClr val="2E8B57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5" name="Google Shape;145;p17"/>
                <p:cNvSpPr/>
                <p:nvPr/>
              </p:nvSpPr>
              <p:spPr>
                <a:xfrm>
                  <a:off x="114300" y="171450"/>
                  <a:ext cx="0" cy="0"/>
                </a:xfrm>
                <a:custGeom>
                  <a:rect b="b" l="l" r="r" t="t"/>
                  <a:pathLst>
                    <a:path extrusionOk="0" h="120000" w="120000">
                      <a:moveTo>
                        <a:pt x="0" y="0"/>
                      </a:moveTo>
                      <a:lnTo>
                        <a:pt x="120000" y="0"/>
                      </a:lnTo>
                    </a:path>
                  </a:pathLst>
                </a:custGeom>
                <a:solidFill>
                  <a:srgbClr val="000000">
                    <a:alpha val="0"/>
                  </a:srgbClr>
                </a:solidFill>
                <a:ln cap="rnd" cmpd="sng" w="19050">
                  <a:solidFill>
                    <a:srgbClr val="2E8B57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sp>
          <p:nvSpPr>
            <p:cNvPr id="146" name="Google Shape;146;p17"/>
            <p:cNvSpPr txBox="1"/>
            <p:nvPr/>
          </p:nvSpPr>
          <p:spPr>
            <a:xfrm>
              <a:off x="476250" y="142875"/>
              <a:ext cx="1666800" cy="23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50">
                  <a:solidFill>
                    <a:srgbClr val="1A2B22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MOBILE FRONT-END</a:t>
              </a:r>
              <a:endParaRPr b="1" sz="1050">
                <a:solidFill>
                  <a:srgbClr val="1A2B22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  <p:sp>
          <p:nvSpPr>
            <p:cNvPr id="147" name="Google Shape;147;p17"/>
            <p:cNvSpPr txBox="1"/>
            <p:nvPr/>
          </p:nvSpPr>
          <p:spPr>
            <a:xfrm>
              <a:off x="142875" y="476250"/>
              <a:ext cx="20001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825">
                  <a:solidFill>
                    <a:srgbClr val="2E8B57"/>
                  </a:solidFill>
                  <a:latin typeface="Roboto Mono Medium"/>
                  <a:ea typeface="Roboto Mono Medium"/>
                  <a:cs typeface="Roboto Mono Medium"/>
                  <a:sym typeface="Roboto Mono Medium"/>
                </a:rPr>
                <a:t>React Native</a:t>
              </a:r>
              <a:endParaRPr b="0" sz="825">
                <a:solidFill>
                  <a:srgbClr val="2E8B57"/>
                </a:solidFill>
                <a:latin typeface="Roboto Mono Medium"/>
                <a:ea typeface="Roboto Mono Medium"/>
                <a:cs typeface="Roboto Mono Medium"/>
                <a:sym typeface="Roboto Mono Medium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863">
                  <a:solidFill>
                    <a:srgbClr val="4A5D53"/>
                  </a:solidFill>
                  <a:latin typeface="Inter"/>
                  <a:ea typeface="Inter"/>
                  <a:cs typeface="Inter"/>
                  <a:sym typeface="Inter"/>
                </a:rPr>
                <a:t>Cross-platform client enabling seamless image capture, classification feedback, and localized disposal guidance.</a:t>
              </a:r>
              <a:endParaRPr b="0" sz="863">
                <a:solidFill>
                  <a:srgbClr val="4A5D53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48" name="Google Shape;148;p17"/>
          <p:cNvGrpSpPr/>
          <p:nvPr/>
        </p:nvGrpSpPr>
        <p:grpSpPr>
          <a:xfrm>
            <a:off x="3619500" y="1047750"/>
            <a:ext cx="2286000" cy="1333500"/>
            <a:chOff x="0" y="0"/>
            <a:chExt cx="2286000" cy="1333500"/>
          </a:xfrm>
        </p:grpSpPr>
        <p:sp>
          <p:nvSpPr>
            <p:cNvPr id="149" name="Google Shape;149;p17"/>
            <p:cNvSpPr/>
            <p:nvPr/>
          </p:nvSpPr>
          <p:spPr>
            <a:xfrm>
              <a:off x="0" y="0"/>
              <a:ext cx="2286000" cy="1333500"/>
            </a:xfrm>
            <a:prstGeom prst="roundRect">
              <a:avLst>
                <a:gd fmla="val 4285" name="adj"/>
              </a:avLst>
            </a:prstGeom>
            <a:solidFill>
              <a:srgbClr val="FFFFFF"/>
            </a:solidFill>
            <a:ln cap="flat" cmpd="sng" w="19050">
              <a:solidFill>
                <a:srgbClr val="D1DCD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" name="Google Shape;150;p17"/>
            <p:cNvSpPr/>
            <p:nvPr/>
          </p:nvSpPr>
          <p:spPr>
            <a:xfrm>
              <a:off x="0" y="0"/>
              <a:ext cx="2286000" cy="47700"/>
            </a:xfrm>
            <a:prstGeom prst="roundRect">
              <a:avLst>
                <a:gd fmla="val 40000" name="adj"/>
              </a:avLst>
            </a:prstGeom>
            <a:solidFill>
              <a:srgbClr val="2E8B5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51" name="Google Shape;151;p17"/>
            <p:cNvGrpSpPr/>
            <p:nvPr/>
          </p:nvGrpSpPr>
          <p:grpSpPr>
            <a:xfrm>
              <a:off x="142875" y="142875"/>
              <a:ext cx="228600" cy="228600"/>
              <a:chOff x="0" y="0"/>
              <a:chExt cx="228600" cy="228600"/>
            </a:xfrm>
          </p:grpSpPr>
          <p:sp>
            <p:nvSpPr>
              <p:cNvPr id="152" name="Google Shape;152;p17"/>
              <p:cNvSpPr/>
              <p:nvPr/>
            </p:nvSpPr>
            <p:spPr>
              <a:xfrm>
                <a:off x="0" y="0"/>
                <a:ext cx="228600" cy="228600"/>
              </a:xfrm>
              <a:prstGeom prst="roundRect">
                <a:avLst>
                  <a:gd fmla="val 16666" name="adj"/>
                </a:avLst>
              </a:prstGeom>
              <a:solidFill>
                <a:srgbClr val="E9EFEA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153" name="Google Shape;153;p17"/>
              <p:cNvGrpSpPr/>
              <p:nvPr/>
            </p:nvGrpSpPr>
            <p:grpSpPr>
              <a:xfrm>
                <a:off x="38100" y="38100"/>
                <a:ext cx="152400" cy="152400"/>
                <a:chOff x="19050" y="19050"/>
                <a:chExt cx="190500" cy="190500"/>
              </a:xfrm>
            </p:grpSpPr>
            <p:sp>
              <p:nvSpPr>
                <p:cNvPr id="154" name="Google Shape;154;p17"/>
                <p:cNvSpPr/>
                <p:nvPr/>
              </p:nvSpPr>
              <p:spPr>
                <a:xfrm>
                  <a:off x="19050" y="19050"/>
                  <a:ext cx="190500" cy="76200"/>
                </a:xfrm>
                <a:prstGeom prst="roundRect">
                  <a:avLst>
                    <a:gd fmla="val 25000" name="adj"/>
                  </a:avLst>
                </a:prstGeom>
                <a:solidFill>
                  <a:srgbClr val="000000">
                    <a:alpha val="0"/>
                  </a:srgbClr>
                </a:solidFill>
                <a:ln cap="rnd" cmpd="sng" w="19050">
                  <a:solidFill>
                    <a:srgbClr val="2E8B57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55" name="Google Shape;155;p17"/>
                <p:cNvSpPr/>
                <p:nvPr/>
              </p:nvSpPr>
              <p:spPr>
                <a:xfrm>
                  <a:off x="19050" y="133350"/>
                  <a:ext cx="190500" cy="76200"/>
                </a:xfrm>
                <a:prstGeom prst="roundRect">
                  <a:avLst>
                    <a:gd fmla="val 25000" name="adj"/>
                  </a:avLst>
                </a:prstGeom>
                <a:solidFill>
                  <a:srgbClr val="000000">
                    <a:alpha val="0"/>
                  </a:srgbClr>
                </a:solidFill>
                <a:ln cap="rnd" cmpd="sng" w="19050">
                  <a:solidFill>
                    <a:srgbClr val="2E8B57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cxnSp>
              <p:nvCxnSpPr>
                <p:cNvPr id="156" name="Google Shape;156;p17"/>
                <p:cNvCxnSpPr/>
                <p:nvPr/>
              </p:nvCxnSpPr>
              <p:spPr>
                <a:xfrm>
                  <a:off x="57150" y="57150"/>
                  <a:ext cx="0" cy="0"/>
                </a:xfrm>
                <a:prstGeom prst="straightConnector1">
                  <a:avLst/>
                </a:prstGeom>
                <a:solidFill>
                  <a:srgbClr val="FFFFFF"/>
                </a:solidFill>
                <a:ln cap="rnd" cmpd="sng" w="19050">
                  <a:solidFill>
                    <a:srgbClr val="2E8B57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157" name="Google Shape;157;p17"/>
                <p:cNvCxnSpPr/>
                <p:nvPr/>
              </p:nvCxnSpPr>
              <p:spPr>
                <a:xfrm>
                  <a:off x="57150" y="171450"/>
                  <a:ext cx="0" cy="0"/>
                </a:xfrm>
                <a:prstGeom prst="straightConnector1">
                  <a:avLst/>
                </a:prstGeom>
                <a:solidFill>
                  <a:srgbClr val="FFFFFF"/>
                </a:solidFill>
                <a:ln cap="rnd" cmpd="sng" w="19050">
                  <a:solidFill>
                    <a:srgbClr val="2E8B57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</p:grpSp>
        <p:sp>
          <p:nvSpPr>
            <p:cNvPr id="158" name="Google Shape;158;p17"/>
            <p:cNvSpPr txBox="1"/>
            <p:nvPr/>
          </p:nvSpPr>
          <p:spPr>
            <a:xfrm>
              <a:off x="476250" y="142875"/>
              <a:ext cx="1666800" cy="23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50">
                  <a:solidFill>
                    <a:srgbClr val="1A2B22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API BACKEND</a:t>
              </a:r>
              <a:endParaRPr b="1" sz="1050">
                <a:solidFill>
                  <a:srgbClr val="1A2B22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  <p:sp>
          <p:nvSpPr>
            <p:cNvPr id="159" name="Google Shape;159;p17"/>
            <p:cNvSpPr txBox="1"/>
            <p:nvPr/>
          </p:nvSpPr>
          <p:spPr>
            <a:xfrm>
              <a:off x="142875" y="476250"/>
              <a:ext cx="20001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825">
                  <a:solidFill>
                    <a:srgbClr val="2E8B57"/>
                  </a:solidFill>
                  <a:latin typeface="Roboto Mono Medium"/>
                  <a:ea typeface="Roboto Mono Medium"/>
                  <a:cs typeface="Roboto Mono Medium"/>
                  <a:sym typeface="Roboto Mono Medium"/>
                </a:rPr>
                <a:t>FastAPI / Python</a:t>
              </a:r>
              <a:endParaRPr b="0" sz="825">
                <a:solidFill>
                  <a:srgbClr val="2E8B57"/>
                </a:solidFill>
                <a:latin typeface="Roboto Mono Medium"/>
                <a:ea typeface="Roboto Mono Medium"/>
                <a:cs typeface="Roboto Mono Medium"/>
                <a:sym typeface="Roboto Mono Medium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863">
                  <a:solidFill>
                    <a:srgbClr val="4A5D53"/>
                  </a:solidFill>
                  <a:latin typeface="Inter"/>
                  <a:ea typeface="Inter"/>
                  <a:cs typeface="Inter"/>
                  <a:sym typeface="Inter"/>
                </a:rPr>
                <a:t>High-performance orchestration layer managing user accounts, geolocated regulation mapping, and model queries.</a:t>
              </a:r>
              <a:endParaRPr b="0" sz="863">
                <a:solidFill>
                  <a:srgbClr val="4A5D53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60" name="Google Shape;160;p17"/>
          <p:cNvGrpSpPr/>
          <p:nvPr/>
        </p:nvGrpSpPr>
        <p:grpSpPr>
          <a:xfrm>
            <a:off x="3619500" y="2952750"/>
            <a:ext cx="2286000" cy="1333500"/>
            <a:chOff x="0" y="0"/>
            <a:chExt cx="2286000" cy="1333500"/>
          </a:xfrm>
        </p:grpSpPr>
        <p:sp>
          <p:nvSpPr>
            <p:cNvPr id="161" name="Google Shape;161;p17"/>
            <p:cNvSpPr/>
            <p:nvPr/>
          </p:nvSpPr>
          <p:spPr>
            <a:xfrm>
              <a:off x="0" y="0"/>
              <a:ext cx="2286000" cy="1333500"/>
            </a:xfrm>
            <a:prstGeom prst="roundRect">
              <a:avLst>
                <a:gd fmla="val 4285" name="adj"/>
              </a:avLst>
            </a:prstGeom>
            <a:solidFill>
              <a:srgbClr val="FFFFFF"/>
            </a:solidFill>
            <a:ln cap="flat" cmpd="sng" w="19050">
              <a:solidFill>
                <a:srgbClr val="D1DCD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" name="Google Shape;162;p17"/>
            <p:cNvSpPr/>
            <p:nvPr/>
          </p:nvSpPr>
          <p:spPr>
            <a:xfrm>
              <a:off x="0" y="0"/>
              <a:ext cx="2286000" cy="47700"/>
            </a:xfrm>
            <a:prstGeom prst="roundRect">
              <a:avLst>
                <a:gd fmla="val 40000" name="adj"/>
              </a:avLst>
            </a:prstGeom>
            <a:solidFill>
              <a:srgbClr val="2E8B5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63" name="Google Shape;163;p17"/>
            <p:cNvGrpSpPr/>
            <p:nvPr/>
          </p:nvGrpSpPr>
          <p:grpSpPr>
            <a:xfrm>
              <a:off x="142875" y="142875"/>
              <a:ext cx="228600" cy="228600"/>
              <a:chOff x="0" y="0"/>
              <a:chExt cx="228600" cy="228600"/>
            </a:xfrm>
          </p:grpSpPr>
          <p:sp>
            <p:nvSpPr>
              <p:cNvPr id="164" name="Google Shape;164;p17"/>
              <p:cNvSpPr/>
              <p:nvPr/>
            </p:nvSpPr>
            <p:spPr>
              <a:xfrm>
                <a:off x="0" y="0"/>
                <a:ext cx="228600" cy="228600"/>
              </a:xfrm>
              <a:prstGeom prst="roundRect">
                <a:avLst>
                  <a:gd fmla="val 16666" name="adj"/>
                </a:avLst>
              </a:prstGeom>
              <a:solidFill>
                <a:srgbClr val="E9EFEA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165" name="Google Shape;165;p17"/>
              <p:cNvGrpSpPr/>
              <p:nvPr/>
            </p:nvGrpSpPr>
            <p:grpSpPr>
              <a:xfrm>
                <a:off x="61382" y="36236"/>
                <a:ext cx="105718" cy="150960"/>
                <a:chOff x="48152" y="16720"/>
                <a:chExt cx="132148" cy="188700"/>
              </a:xfrm>
            </p:grpSpPr>
            <p:sp>
              <p:nvSpPr>
                <p:cNvPr id="166" name="Google Shape;166;p17"/>
                <p:cNvSpPr/>
                <p:nvPr/>
              </p:nvSpPr>
              <p:spPr>
                <a:xfrm>
                  <a:off x="48152" y="16720"/>
                  <a:ext cx="66000" cy="188700"/>
                </a:xfrm>
                <a:custGeom>
                  <a:rect b="b" l="l" r="r" t="t"/>
                  <a:pathLst>
                    <a:path extrusionOk="0" h="120000" w="120000">
                      <a:moveTo>
                        <a:pt x="76801" y="1483"/>
                      </a:moveTo>
                      <a:cubicBezTo>
                        <a:pt x="100659" y="1483"/>
                        <a:pt x="119999" y="8267"/>
                        <a:pt x="120000" y="16635"/>
                      </a:cubicBezTo>
                      <a:lnTo>
                        <a:pt x="120000" y="107547"/>
                      </a:lnTo>
                      <a:cubicBezTo>
                        <a:pt x="116020" y="115258"/>
                        <a:pt x="95931" y="120633"/>
                        <a:pt x="73675" y="119940"/>
                      </a:cubicBezTo>
                      <a:cubicBezTo>
                        <a:pt x="51420" y="119248"/>
                        <a:pt x="34342" y="112717"/>
                        <a:pt x="34293" y="104881"/>
                      </a:cubicBezTo>
                      <a:cubicBezTo>
                        <a:pt x="21703" y="99351"/>
                        <a:pt x="21703" y="91501"/>
                        <a:pt x="34293" y="85971"/>
                      </a:cubicBezTo>
                      <a:cubicBezTo>
                        <a:pt x="20687" y="82557"/>
                        <a:pt x="12614" y="77050"/>
                        <a:pt x="12614" y="71182"/>
                      </a:cubicBezTo>
                      <a:cubicBezTo>
                        <a:pt x="12614" y="65315"/>
                        <a:pt x="20687" y="59808"/>
                        <a:pt x="34293" y="56394"/>
                      </a:cubicBezTo>
                      <a:cubicBezTo>
                        <a:pt x="21703" y="50864"/>
                        <a:pt x="21703" y="43014"/>
                        <a:pt x="34293" y="37484"/>
                      </a:cubicBezTo>
                      <a:cubicBezTo>
                        <a:pt x="5950" y="33367"/>
                        <a:pt x="-7512" y="21970"/>
                        <a:pt x="4227" y="12028"/>
                      </a:cubicBezTo>
                      <a:cubicBezTo>
                        <a:pt x="15965" y="2087"/>
                        <a:pt x="48458" y="-2635"/>
                        <a:pt x="76801" y="1483"/>
                      </a:cubicBezTo>
                      <a:close/>
                    </a:path>
                  </a:pathLst>
                </a:custGeom>
                <a:solidFill>
                  <a:srgbClr val="000000">
                    <a:alpha val="0"/>
                  </a:srgbClr>
                </a:solidFill>
                <a:ln cap="rnd" cmpd="sng" w="19050">
                  <a:solidFill>
                    <a:srgbClr val="2E8B57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67" name="Google Shape;167;p17"/>
                <p:cNvSpPr/>
                <p:nvPr/>
              </p:nvSpPr>
              <p:spPr>
                <a:xfrm>
                  <a:off x="114300" y="16720"/>
                  <a:ext cx="66000" cy="188700"/>
                </a:xfrm>
                <a:custGeom>
                  <a:rect b="b" l="l" r="r" t="t"/>
                  <a:pathLst>
                    <a:path extrusionOk="0" h="120000" w="120000">
                      <a:moveTo>
                        <a:pt x="43199" y="1483"/>
                      </a:moveTo>
                      <a:cubicBezTo>
                        <a:pt x="19341" y="1483"/>
                        <a:pt x="1" y="8267"/>
                        <a:pt x="0" y="16635"/>
                      </a:cubicBezTo>
                      <a:lnTo>
                        <a:pt x="0" y="107547"/>
                      </a:lnTo>
                      <a:cubicBezTo>
                        <a:pt x="3981" y="115258"/>
                        <a:pt x="24069" y="120633"/>
                        <a:pt x="46324" y="119940"/>
                      </a:cubicBezTo>
                      <a:cubicBezTo>
                        <a:pt x="68580" y="119248"/>
                        <a:pt x="85658" y="112717"/>
                        <a:pt x="85707" y="104881"/>
                      </a:cubicBezTo>
                      <a:cubicBezTo>
                        <a:pt x="98297" y="99351"/>
                        <a:pt x="98297" y="91501"/>
                        <a:pt x="85707" y="85971"/>
                      </a:cubicBezTo>
                      <a:cubicBezTo>
                        <a:pt x="99313" y="82557"/>
                        <a:pt x="107386" y="77050"/>
                        <a:pt x="107386" y="71182"/>
                      </a:cubicBezTo>
                      <a:cubicBezTo>
                        <a:pt x="107386" y="65315"/>
                        <a:pt x="99313" y="59808"/>
                        <a:pt x="85707" y="56394"/>
                      </a:cubicBezTo>
                      <a:cubicBezTo>
                        <a:pt x="98297" y="50864"/>
                        <a:pt x="98297" y="43014"/>
                        <a:pt x="85707" y="37484"/>
                      </a:cubicBezTo>
                      <a:cubicBezTo>
                        <a:pt x="114050" y="33367"/>
                        <a:pt x="127511" y="21970"/>
                        <a:pt x="115773" y="12028"/>
                      </a:cubicBezTo>
                      <a:cubicBezTo>
                        <a:pt x="104035" y="2087"/>
                        <a:pt x="71542" y="-2635"/>
                        <a:pt x="43199" y="1483"/>
                      </a:cubicBezTo>
                      <a:close/>
                    </a:path>
                  </a:pathLst>
                </a:custGeom>
                <a:solidFill>
                  <a:srgbClr val="000000">
                    <a:alpha val="0"/>
                  </a:srgbClr>
                </a:solidFill>
                <a:ln cap="rnd" cmpd="sng" w="19050">
                  <a:solidFill>
                    <a:srgbClr val="2E8B57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sp>
          <p:nvSpPr>
            <p:cNvPr id="168" name="Google Shape;168;p17"/>
            <p:cNvSpPr txBox="1"/>
            <p:nvPr/>
          </p:nvSpPr>
          <p:spPr>
            <a:xfrm>
              <a:off x="476250" y="142875"/>
              <a:ext cx="1666800" cy="23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50">
                  <a:solidFill>
                    <a:srgbClr val="1A2B22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ML INFERENCE ENGINE</a:t>
              </a:r>
              <a:endParaRPr b="1" sz="1050">
                <a:solidFill>
                  <a:srgbClr val="1A2B22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  <p:sp>
          <p:nvSpPr>
            <p:cNvPr id="169" name="Google Shape;169;p17"/>
            <p:cNvSpPr txBox="1"/>
            <p:nvPr/>
          </p:nvSpPr>
          <p:spPr>
            <a:xfrm>
              <a:off x="142875" y="476250"/>
              <a:ext cx="20001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825">
                  <a:solidFill>
                    <a:srgbClr val="2E8B57"/>
                  </a:solidFill>
                  <a:latin typeface="Roboto Mono Medium"/>
                  <a:ea typeface="Roboto Mono Medium"/>
                  <a:cs typeface="Roboto Mono Medium"/>
                  <a:sym typeface="Roboto Mono Medium"/>
                </a:rPr>
                <a:t>PyTorch / LibTorch</a:t>
              </a:r>
              <a:endParaRPr b="0" sz="825">
                <a:solidFill>
                  <a:srgbClr val="2E8B57"/>
                </a:solidFill>
                <a:latin typeface="Roboto Mono Medium"/>
                <a:ea typeface="Roboto Mono Medium"/>
                <a:cs typeface="Roboto Mono Medium"/>
                <a:sym typeface="Roboto Mono Medium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863">
                  <a:solidFill>
                    <a:srgbClr val="4A5D53"/>
                  </a:solidFill>
                  <a:latin typeface="Inter"/>
                  <a:ea typeface="Inter"/>
                  <a:cs typeface="Inter"/>
                  <a:sym typeface="Inter"/>
                </a:rPr>
                <a:t>Lightweight, fine-tuned image classification service optimized for rapid predictions and high accuracy.</a:t>
              </a:r>
              <a:endParaRPr b="0" sz="863">
                <a:solidFill>
                  <a:srgbClr val="4A5D53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70" name="Google Shape;170;p17"/>
          <p:cNvGrpSpPr/>
          <p:nvPr/>
        </p:nvGrpSpPr>
        <p:grpSpPr>
          <a:xfrm>
            <a:off x="571500" y="2952750"/>
            <a:ext cx="2286000" cy="1333500"/>
            <a:chOff x="0" y="0"/>
            <a:chExt cx="2286000" cy="1333500"/>
          </a:xfrm>
        </p:grpSpPr>
        <p:sp>
          <p:nvSpPr>
            <p:cNvPr id="171" name="Google Shape;171;p17"/>
            <p:cNvSpPr/>
            <p:nvPr/>
          </p:nvSpPr>
          <p:spPr>
            <a:xfrm>
              <a:off x="0" y="0"/>
              <a:ext cx="2286000" cy="1333500"/>
            </a:xfrm>
            <a:prstGeom prst="roundRect">
              <a:avLst>
                <a:gd fmla="val 4285" name="adj"/>
              </a:avLst>
            </a:prstGeom>
            <a:solidFill>
              <a:srgbClr val="FFFFFF"/>
            </a:solidFill>
            <a:ln cap="flat" cmpd="sng" w="19050">
              <a:solidFill>
                <a:srgbClr val="D1DCD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" name="Google Shape;172;p17"/>
            <p:cNvSpPr/>
            <p:nvPr/>
          </p:nvSpPr>
          <p:spPr>
            <a:xfrm>
              <a:off x="0" y="0"/>
              <a:ext cx="2286000" cy="47700"/>
            </a:xfrm>
            <a:prstGeom prst="roundRect">
              <a:avLst>
                <a:gd fmla="val 40000" name="adj"/>
              </a:avLst>
            </a:prstGeom>
            <a:solidFill>
              <a:srgbClr val="2E8B5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73" name="Google Shape;173;p17"/>
            <p:cNvGrpSpPr/>
            <p:nvPr/>
          </p:nvGrpSpPr>
          <p:grpSpPr>
            <a:xfrm>
              <a:off x="142875" y="142875"/>
              <a:ext cx="228600" cy="228600"/>
              <a:chOff x="0" y="0"/>
              <a:chExt cx="228600" cy="228600"/>
            </a:xfrm>
          </p:grpSpPr>
          <p:sp>
            <p:nvSpPr>
              <p:cNvPr id="174" name="Google Shape;174;p17"/>
              <p:cNvSpPr/>
              <p:nvPr/>
            </p:nvSpPr>
            <p:spPr>
              <a:xfrm>
                <a:off x="0" y="0"/>
                <a:ext cx="228600" cy="228600"/>
              </a:xfrm>
              <a:prstGeom prst="roundRect">
                <a:avLst>
                  <a:gd fmla="val 16666" name="adj"/>
                </a:avLst>
              </a:prstGeom>
              <a:solidFill>
                <a:srgbClr val="E9EFEA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175" name="Google Shape;175;p17"/>
              <p:cNvGrpSpPr/>
              <p:nvPr/>
            </p:nvGrpSpPr>
            <p:grpSpPr>
              <a:xfrm>
                <a:off x="45720" y="38100"/>
                <a:ext cx="137280" cy="152460"/>
                <a:chOff x="28575" y="19050"/>
                <a:chExt cx="171600" cy="190575"/>
              </a:xfrm>
            </p:grpSpPr>
            <p:sp>
              <p:nvSpPr>
                <p:cNvPr id="176" name="Google Shape;176;p17"/>
                <p:cNvSpPr/>
                <p:nvPr/>
              </p:nvSpPr>
              <p:spPr>
                <a:xfrm>
                  <a:off x="28575" y="19050"/>
                  <a:ext cx="171600" cy="57300"/>
                </a:xfrm>
                <a:prstGeom prst="ellipse">
                  <a:avLst/>
                </a:prstGeom>
                <a:solidFill>
                  <a:srgbClr val="000000">
                    <a:alpha val="0"/>
                  </a:srgbClr>
                </a:solidFill>
                <a:ln cap="rnd" cmpd="sng" w="19050">
                  <a:solidFill>
                    <a:srgbClr val="2E8B57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77" name="Google Shape;177;p17"/>
                <p:cNvSpPr/>
                <p:nvPr/>
              </p:nvSpPr>
              <p:spPr>
                <a:xfrm>
                  <a:off x="28575" y="47625"/>
                  <a:ext cx="171600" cy="162000"/>
                </a:xfrm>
                <a:custGeom>
                  <a:rect b="b" l="l" r="r" t="t"/>
                  <a:pathLst>
                    <a:path extrusionOk="0" h="120000" w="120000">
                      <a:moveTo>
                        <a:pt x="0" y="0"/>
                      </a:moveTo>
                      <a:lnTo>
                        <a:pt x="0" y="98824"/>
                      </a:lnTo>
                      <a:cubicBezTo>
                        <a:pt x="0" y="110541"/>
                        <a:pt x="26867" y="120000"/>
                        <a:pt x="60000" y="120000"/>
                      </a:cubicBezTo>
                      <a:lnTo>
                        <a:pt x="120000" y="110541"/>
                      </a:lnTo>
                      <a:lnTo>
                        <a:pt x="120000" y="98824"/>
                      </a:lnTo>
                      <a:lnTo>
                        <a:pt x="120000" y="0"/>
                      </a:lnTo>
                    </a:path>
                  </a:pathLst>
                </a:custGeom>
                <a:solidFill>
                  <a:srgbClr val="000000">
                    <a:alpha val="0"/>
                  </a:srgbClr>
                </a:solidFill>
                <a:ln cap="rnd" cmpd="sng" w="19050">
                  <a:solidFill>
                    <a:srgbClr val="2E8B57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78" name="Google Shape;178;p17"/>
                <p:cNvSpPr/>
                <p:nvPr/>
              </p:nvSpPr>
              <p:spPr>
                <a:xfrm>
                  <a:off x="28575" y="114300"/>
                  <a:ext cx="171600" cy="28500"/>
                </a:xfrm>
                <a:custGeom>
                  <a:rect b="b" l="l" r="r" t="t"/>
                  <a:pathLst>
                    <a:path extrusionOk="0" h="120000" w="120000">
                      <a:moveTo>
                        <a:pt x="0" y="0"/>
                      </a:moveTo>
                      <a:cubicBezTo>
                        <a:pt x="0" y="66400"/>
                        <a:pt x="26867" y="120000"/>
                        <a:pt x="60000" y="120000"/>
                      </a:cubicBezTo>
                      <a:lnTo>
                        <a:pt x="120000" y="66400"/>
                      </a:lnTo>
                      <a:lnTo>
                        <a:pt x="120000" y="0"/>
                      </a:lnTo>
                    </a:path>
                  </a:pathLst>
                </a:custGeom>
                <a:solidFill>
                  <a:srgbClr val="000000">
                    <a:alpha val="0"/>
                  </a:srgbClr>
                </a:solidFill>
                <a:ln cap="rnd" cmpd="sng" w="19050">
                  <a:solidFill>
                    <a:srgbClr val="2E8B57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sp>
          <p:nvSpPr>
            <p:cNvPr id="179" name="Google Shape;179;p17"/>
            <p:cNvSpPr txBox="1"/>
            <p:nvPr/>
          </p:nvSpPr>
          <p:spPr>
            <a:xfrm>
              <a:off x="476250" y="142875"/>
              <a:ext cx="1666800" cy="23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50">
                  <a:solidFill>
                    <a:srgbClr val="1A2B22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KNOWLEDGE BASE</a:t>
              </a:r>
              <a:endParaRPr b="1" sz="1050">
                <a:solidFill>
                  <a:srgbClr val="1A2B22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  <p:sp>
          <p:nvSpPr>
            <p:cNvPr id="180" name="Google Shape;180;p17"/>
            <p:cNvSpPr txBox="1"/>
            <p:nvPr/>
          </p:nvSpPr>
          <p:spPr>
            <a:xfrm>
              <a:off x="142875" y="476250"/>
              <a:ext cx="20001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825">
                  <a:solidFill>
                    <a:srgbClr val="2E8B57"/>
                  </a:solidFill>
                  <a:latin typeface="Roboto Mono Medium"/>
                  <a:ea typeface="Roboto Mono Medium"/>
                  <a:cs typeface="Roboto Mono Medium"/>
                  <a:sym typeface="Roboto Mono Medium"/>
                </a:rPr>
                <a:t>PostgreSQL</a:t>
              </a:r>
              <a:endParaRPr b="0" sz="825">
                <a:solidFill>
                  <a:srgbClr val="2E8B57"/>
                </a:solidFill>
                <a:latin typeface="Roboto Mono Medium"/>
                <a:ea typeface="Roboto Mono Medium"/>
                <a:cs typeface="Roboto Mono Medium"/>
                <a:sym typeface="Roboto Mono Medium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863">
                  <a:solidFill>
                    <a:srgbClr val="4A5D53"/>
                  </a:solidFill>
                  <a:latin typeface="Inter"/>
                  <a:ea typeface="Inter"/>
                  <a:cs typeface="Inter"/>
                  <a:sym typeface="Inter"/>
                </a:rPr>
                <a:t>Robust relational database mapping identified items to highly localized regulatory rules and municipal guidelines.</a:t>
              </a:r>
              <a:endParaRPr b="0" sz="863">
                <a:solidFill>
                  <a:srgbClr val="4A5D53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81" name="Google Shape;181;p17"/>
          <p:cNvGrpSpPr/>
          <p:nvPr/>
        </p:nvGrpSpPr>
        <p:grpSpPr>
          <a:xfrm>
            <a:off x="6477000" y="762000"/>
            <a:ext cx="2143200" cy="3714900"/>
            <a:chOff x="0" y="0"/>
            <a:chExt cx="2143200" cy="3714900"/>
          </a:xfrm>
        </p:grpSpPr>
        <p:sp>
          <p:nvSpPr>
            <p:cNvPr id="182" name="Google Shape;182;p17"/>
            <p:cNvSpPr/>
            <p:nvPr/>
          </p:nvSpPr>
          <p:spPr>
            <a:xfrm>
              <a:off x="0" y="0"/>
              <a:ext cx="2143200" cy="3714900"/>
            </a:xfrm>
            <a:prstGeom prst="roundRect">
              <a:avLst>
                <a:gd fmla="val 10666" name="adj"/>
              </a:avLst>
            </a:prstGeom>
            <a:solidFill>
              <a:srgbClr val="FFFFFF"/>
            </a:solidFill>
            <a:ln cap="flat" cmpd="sng" w="38100">
              <a:solidFill>
                <a:srgbClr val="1A2B2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" name="Google Shape;183;p17"/>
            <p:cNvSpPr/>
            <p:nvPr/>
          </p:nvSpPr>
          <p:spPr>
            <a:xfrm>
              <a:off x="590550" y="95250"/>
              <a:ext cx="952500" cy="142800"/>
            </a:xfrm>
            <a:prstGeom prst="roundRect">
              <a:avLst>
                <a:gd fmla="val 50000" name="adj"/>
              </a:avLst>
            </a:prstGeom>
            <a:solidFill>
              <a:srgbClr val="1A2B2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" name="Google Shape;184;p17"/>
            <p:cNvSpPr/>
            <p:nvPr/>
          </p:nvSpPr>
          <p:spPr>
            <a:xfrm>
              <a:off x="76200" y="304800"/>
              <a:ext cx="1990800" cy="3295800"/>
            </a:xfrm>
            <a:prstGeom prst="roundRect">
              <a:avLst>
                <a:gd fmla="val 7655" name="adj"/>
              </a:avLst>
            </a:prstGeom>
            <a:solidFill>
              <a:srgbClr val="F7F9F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" name="Google Shape;185;p17"/>
            <p:cNvSpPr/>
            <p:nvPr/>
          </p:nvSpPr>
          <p:spPr>
            <a:xfrm>
              <a:off x="76200" y="304800"/>
              <a:ext cx="1990800" cy="333300"/>
            </a:xfrm>
            <a:prstGeom prst="roundRect">
              <a:avLst>
                <a:gd fmla="val 0" name="adj"/>
              </a:avLst>
            </a:prstGeom>
            <a:solidFill>
              <a:srgbClr val="2E8B5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" name="Google Shape;186;p17"/>
            <p:cNvSpPr txBox="1"/>
            <p:nvPr/>
          </p:nvSpPr>
          <p:spPr>
            <a:xfrm>
              <a:off x="142875" y="361950"/>
              <a:ext cx="1857300" cy="23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825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SORTIFY AI</a:t>
              </a:r>
              <a:endParaRPr/>
            </a:p>
          </p:txBody>
        </p:sp>
        <p:grpSp>
          <p:nvGrpSpPr>
            <p:cNvPr id="187" name="Google Shape;187;p17"/>
            <p:cNvGrpSpPr/>
            <p:nvPr/>
          </p:nvGrpSpPr>
          <p:grpSpPr>
            <a:xfrm>
              <a:off x="171450" y="733425"/>
              <a:ext cx="1800300" cy="1047900"/>
              <a:chOff x="0" y="0"/>
              <a:chExt cx="1800300" cy="1047900"/>
            </a:xfrm>
          </p:grpSpPr>
          <p:sp>
            <p:nvSpPr>
              <p:cNvPr id="188" name="Google Shape;188;p17"/>
              <p:cNvSpPr/>
              <p:nvPr/>
            </p:nvSpPr>
            <p:spPr>
              <a:xfrm>
                <a:off x="0" y="0"/>
                <a:ext cx="1800300" cy="1047900"/>
              </a:xfrm>
              <a:prstGeom prst="roundRect">
                <a:avLst>
                  <a:gd fmla="val 7272" name="adj"/>
                </a:avLst>
              </a:prstGeom>
              <a:solidFill>
                <a:srgbClr val="E9EFEA"/>
              </a:solidFill>
              <a:ln cap="flat" cmpd="sng" w="9525">
                <a:solidFill>
                  <a:srgbClr val="D1DCD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9" name="Google Shape;189;p17"/>
              <p:cNvSpPr/>
              <p:nvPr/>
            </p:nvSpPr>
            <p:spPr>
              <a:xfrm>
                <a:off x="142875" y="47625"/>
                <a:ext cx="95400" cy="95400"/>
              </a:xfrm>
              <a:custGeom>
                <a:rect b="b" l="l" r="r" t="t"/>
                <a:pathLst>
                  <a:path extrusionOk="0" h="120000" w="120000">
                    <a:moveTo>
                      <a:pt x="0" y="120000"/>
                    </a:moveTo>
                    <a:lnTo>
                      <a:pt x="0" y="0"/>
                    </a:lnTo>
                    <a:lnTo>
                      <a:pt x="120000" y="0"/>
                    </a:lnTo>
                  </a:path>
                </a:pathLst>
              </a:custGeom>
              <a:solidFill>
                <a:srgbClr val="000000">
                  <a:alpha val="0"/>
                </a:srgbClr>
              </a:solidFill>
              <a:ln cap="flat" cmpd="sng" w="19050">
                <a:solidFill>
                  <a:srgbClr val="2E8B57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0" name="Google Shape;190;p17"/>
              <p:cNvSpPr/>
              <p:nvPr/>
            </p:nvSpPr>
            <p:spPr>
              <a:xfrm>
                <a:off x="1562100" y="47625"/>
                <a:ext cx="95400" cy="95400"/>
              </a:xfrm>
              <a:custGeom>
                <a:rect b="b" l="l" r="r" t="t"/>
                <a:pathLst>
                  <a:path extrusionOk="0" h="120000" w="120000">
                    <a:moveTo>
                      <a:pt x="120000" y="120000"/>
                    </a:moveTo>
                    <a:lnTo>
                      <a:pt x="120000" y="0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000000">
                  <a:alpha val="0"/>
                </a:srgbClr>
              </a:solidFill>
              <a:ln cap="flat" cmpd="sng" w="19050">
                <a:solidFill>
                  <a:srgbClr val="2E8B57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1" name="Google Shape;191;p17"/>
              <p:cNvSpPr/>
              <p:nvPr/>
            </p:nvSpPr>
            <p:spPr>
              <a:xfrm>
                <a:off x="142875" y="904875"/>
                <a:ext cx="95400" cy="95400"/>
              </a:xfrm>
              <a:custGeom>
                <a:rect b="b" l="l" r="r" t="t"/>
                <a:pathLst>
                  <a:path extrusionOk="0" h="120000" w="120000">
                    <a:moveTo>
                      <a:pt x="0" y="0"/>
                    </a:moveTo>
                    <a:lnTo>
                      <a:pt x="0" y="120000"/>
                    </a:lnTo>
                    <a:lnTo>
                      <a:pt x="120000" y="120000"/>
                    </a:lnTo>
                  </a:path>
                </a:pathLst>
              </a:custGeom>
              <a:solidFill>
                <a:srgbClr val="000000">
                  <a:alpha val="0"/>
                </a:srgbClr>
              </a:solidFill>
              <a:ln cap="flat" cmpd="sng" w="19050">
                <a:solidFill>
                  <a:srgbClr val="2E8B57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2" name="Google Shape;192;p17"/>
              <p:cNvSpPr/>
              <p:nvPr/>
            </p:nvSpPr>
            <p:spPr>
              <a:xfrm>
                <a:off x="1562100" y="904875"/>
                <a:ext cx="95400" cy="95400"/>
              </a:xfrm>
              <a:custGeom>
                <a:rect b="b" l="l" r="r" t="t"/>
                <a:pathLst>
                  <a:path extrusionOk="0" h="120000" w="120000">
                    <a:moveTo>
                      <a:pt x="120000" y="0"/>
                    </a:moveTo>
                    <a:lnTo>
                      <a:pt x="120000" y="120000"/>
                    </a:lnTo>
                    <a:lnTo>
                      <a:pt x="0" y="120000"/>
                    </a:lnTo>
                  </a:path>
                </a:pathLst>
              </a:custGeom>
              <a:solidFill>
                <a:srgbClr val="000000">
                  <a:alpha val="0"/>
                </a:srgbClr>
              </a:solidFill>
              <a:ln cap="flat" cmpd="sng" w="19050">
                <a:solidFill>
                  <a:srgbClr val="2E8B57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193" name="Google Shape;193;p17"/>
              <p:cNvGrpSpPr/>
              <p:nvPr/>
            </p:nvGrpSpPr>
            <p:grpSpPr>
              <a:xfrm>
                <a:off x="781050" y="481013"/>
                <a:ext cx="238200" cy="157163"/>
                <a:chOff x="0" y="71438"/>
                <a:chExt cx="238200" cy="157163"/>
              </a:xfrm>
            </p:grpSpPr>
            <p:sp>
              <p:nvSpPr>
                <p:cNvPr id="194" name="Google Shape;194;p17"/>
                <p:cNvSpPr/>
                <p:nvPr/>
              </p:nvSpPr>
              <p:spPr>
                <a:xfrm>
                  <a:off x="47625" y="71438"/>
                  <a:ext cx="142800" cy="71400"/>
                </a:xfrm>
                <a:custGeom>
                  <a:rect b="b" l="l" r="r" t="t"/>
                  <a:pathLst>
                    <a:path extrusionOk="0" h="120000" w="120000">
                      <a:moveTo>
                        <a:pt x="0" y="120000"/>
                      </a:moveTo>
                      <a:cubicBezTo>
                        <a:pt x="0" y="53726"/>
                        <a:pt x="26863" y="0"/>
                        <a:pt x="60000" y="0"/>
                      </a:cubicBezTo>
                      <a:cubicBezTo>
                        <a:pt x="93137" y="0"/>
                        <a:pt x="120000" y="53726"/>
                        <a:pt x="120000" y="120000"/>
                      </a:cubicBezTo>
                      <a:close/>
                    </a:path>
                  </a:pathLst>
                </a:custGeom>
                <a:solidFill>
                  <a:srgbClr val="2E8B57">
                    <a:alpha val="30000"/>
                  </a:srgbClr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95" name="Google Shape;195;p17"/>
                <p:cNvSpPr/>
                <p:nvPr/>
              </p:nvSpPr>
              <p:spPr>
                <a:xfrm>
                  <a:off x="0" y="76200"/>
                  <a:ext cx="238200" cy="152400"/>
                </a:xfrm>
                <a:prstGeom prst="roundRect">
                  <a:avLst>
                    <a:gd fmla="val 18750" name="adj"/>
                  </a:avLst>
                </a:prstGeom>
                <a:solidFill>
                  <a:srgbClr val="2E8B57">
                    <a:alpha val="20000"/>
                  </a:srgbClr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96" name="Google Shape;196;p17"/>
                <p:cNvSpPr/>
                <p:nvPr/>
              </p:nvSpPr>
              <p:spPr>
                <a:xfrm>
                  <a:off x="71438" y="104775"/>
                  <a:ext cx="95400" cy="95400"/>
                </a:xfrm>
                <a:prstGeom prst="ellipse">
                  <a:avLst/>
                </a:prstGeom>
                <a:solidFill>
                  <a:srgbClr val="2E8B57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197" name="Google Shape;197;p17"/>
              <p:cNvSpPr txBox="1"/>
              <p:nvPr/>
            </p:nvSpPr>
            <p:spPr>
              <a:xfrm>
                <a:off x="95250" y="762000"/>
                <a:ext cx="1609800" cy="238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638">
                    <a:solidFill>
                      <a:srgbClr val="4A5D53"/>
                    </a:solidFill>
                    <a:latin typeface="Inter"/>
                    <a:ea typeface="Inter"/>
                    <a:cs typeface="Inter"/>
                    <a:sym typeface="Inter"/>
                  </a:rPr>
                  <a:t>1. Capture Waste Item</a:t>
                </a:r>
                <a:endParaRPr b="1" sz="638">
                  <a:solidFill>
                    <a:srgbClr val="4A5D53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198" name="Google Shape;198;p17"/>
            <p:cNvGrpSpPr/>
            <p:nvPr/>
          </p:nvGrpSpPr>
          <p:grpSpPr>
            <a:xfrm>
              <a:off x="171450" y="1876425"/>
              <a:ext cx="1800300" cy="666900"/>
              <a:chOff x="0" y="0"/>
              <a:chExt cx="1800300" cy="666900"/>
            </a:xfrm>
          </p:grpSpPr>
          <p:sp>
            <p:nvSpPr>
              <p:cNvPr id="199" name="Google Shape;199;p17"/>
              <p:cNvSpPr/>
              <p:nvPr/>
            </p:nvSpPr>
            <p:spPr>
              <a:xfrm>
                <a:off x="0" y="0"/>
                <a:ext cx="1800300" cy="666900"/>
              </a:xfrm>
              <a:prstGeom prst="roundRect">
                <a:avLst>
                  <a:gd fmla="val 11428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D1DCD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0" name="Google Shape;200;p17"/>
              <p:cNvSpPr/>
              <p:nvPr/>
            </p:nvSpPr>
            <p:spPr>
              <a:xfrm>
                <a:off x="95250" y="95250"/>
                <a:ext cx="1609800" cy="190500"/>
              </a:xfrm>
              <a:prstGeom prst="roundRect">
                <a:avLst>
                  <a:gd fmla="val 20000" name="adj"/>
                </a:avLst>
              </a:prstGeom>
              <a:solidFill>
                <a:srgbClr val="E9EFEA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1" name="Google Shape;201;p17"/>
              <p:cNvSpPr txBox="1"/>
              <p:nvPr/>
            </p:nvSpPr>
            <p:spPr>
              <a:xfrm>
                <a:off x="142875" y="133350"/>
                <a:ext cx="1514400" cy="142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375">
                    <a:solidFill>
                      <a:srgbClr val="1E5631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PET Plastic Bottle</a:t>
                </a:r>
                <a:r>
                  <a:rPr lang="en" sz="875"/>
                  <a:t> </a:t>
                </a:r>
                <a:r>
                  <a:rPr b="1" lang="en" sz="375">
                    <a:solidFill>
                      <a:srgbClr val="2E8B57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98.4% Conf.</a:t>
                </a:r>
                <a:endParaRPr sz="875"/>
              </a:p>
            </p:txBody>
          </p:sp>
          <p:sp>
            <p:nvSpPr>
              <p:cNvPr id="202" name="Google Shape;202;p17"/>
              <p:cNvSpPr/>
              <p:nvPr/>
            </p:nvSpPr>
            <p:spPr>
              <a:xfrm>
                <a:off x="95250" y="361950"/>
                <a:ext cx="1609800" cy="57300"/>
              </a:xfrm>
              <a:prstGeom prst="roundRect">
                <a:avLst>
                  <a:gd fmla="val 50000" name="adj"/>
                </a:avLst>
              </a:prstGeom>
              <a:solidFill>
                <a:srgbClr val="E9EFEA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3" name="Google Shape;203;p17"/>
              <p:cNvSpPr/>
              <p:nvPr/>
            </p:nvSpPr>
            <p:spPr>
              <a:xfrm>
                <a:off x="95250" y="361950"/>
                <a:ext cx="1581300" cy="57300"/>
              </a:xfrm>
              <a:prstGeom prst="roundRect">
                <a:avLst>
                  <a:gd fmla="val 50000" name="adj"/>
                </a:avLst>
              </a:prstGeom>
              <a:solidFill>
                <a:srgbClr val="2E8B57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4" name="Google Shape;204;p17"/>
              <p:cNvSpPr txBox="1"/>
              <p:nvPr/>
            </p:nvSpPr>
            <p:spPr>
              <a:xfrm>
                <a:off x="95250" y="457200"/>
                <a:ext cx="1609800" cy="171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638">
                    <a:solidFill>
                      <a:srgbClr val="4A5D53"/>
                    </a:solidFill>
                    <a:latin typeface="Inter"/>
                    <a:ea typeface="Inter"/>
                    <a:cs typeface="Inter"/>
                    <a:sym typeface="Inter"/>
                  </a:rPr>
                  <a:t>2. AI Inference &amp; Evaluation</a:t>
                </a:r>
                <a:endParaRPr b="1" sz="638">
                  <a:solidFill>
                    <a:srgbClr val="4A5D53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205" name="Google Shape;205;p17"/>
            <p:cNvGrpSpPr/>
            <p:nvPr/>
          </p:nvGrpSpPr>
          <p:grpSpPr>
            <a:xfrm>
              <a:off x="171450" y="2638425"/>
              <a:ext cx="1800300" cy="857400"/>
              <a:chOff x="0" y="0"/>
              <a:chExt cx="1800300" cy="857400"/>
            </a:xfrm>
          </p:grpSpPr>
          <p:sp>
            <p:nvSpPr>
              <p:cNvPr id="206" name="Google Shape;206;p17"/>
              <p:cNvSpPr/>
              <p:nvPr/>
            </p:nvSpPr>
            <p:spPr>
              <a:xfrm>
                <a:off x="0" y="0"/>
                <a:ext cx="1800300" cy="857400"/>
              </a:xfrm>
              <a:prstGeom prst="roundRect">
                <a:avLst>
                  <a:gd fmla="val 8888" name="adj"/>
                </a:avLst>
              </a:prstGeom>
              <a:solidFill>
                <a:srgbClr val="1A2B22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7" name="Google Shape;207;p17"/>
              <p:cNvSpPr txBox="1"/>
              <p:nvPr/>
            </p:nvSpPr>
            <p:spPr>
              <a:xfrm>
                <a:off x="114300" y="95250"/>
                <a:ext cx="1571700" cy="66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638">
                    <a:solidFill>
                      <a:srgbClr val="FFFFFF"/>
                    </a:solidFill>
                    <a:latin typeface="Inter"/>
                    <a:ea typeface="Inter"/>
                    <a:cs typeface="Inter"/>
                    <a:sym typeface="Inter"/>
                  </a:rPr>
                  <a:t>3. Localized Guidance Delivery</a:t>
                </a:r>
                <a:endParaRPr b="1" sz="638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225"/>
                  </a:spcBef>
                  <a:spcAft>
                    <a:spcPts val="0"/>
                  </a:spcAft>
                  <a:buNone/>
                </a:pPr>
                <a:r>
                  <a:rPr lang="en" sz="600">
                    <a:solidFill>
                      <a:srgbClr val="D1DCD6"/>
                    </a:solidFill>
                    <a:latin typeface="Inter"/>
                    <a:ea typeface="Inter"/>
                    <a:cs typeface="Inter"/>
                    <a:sym typeface="Inter"/>
                  </a:rPr>
                  <a:t>Empty, rinse, and place in Blue Bin. Caps are accepted. Municipal Code 12-A applies.</a:t>
                </a:r>
                <a:endParaRPr sz="600">
                  <a:solidFill>
                    <a:srgbClr val="D1DCD6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450"/>
                  </a:spcBef>
                  <a:spcAft>
                    <a:spcPts val="0"/>
                  </a:spcAft>
                  <a:buNone/>
                </a:pPr>
                <a:r>
                  <a:rPr b="1" lang="en" sz="488">
                    <a:solidFill>
                      <a:srgbClr val="FFFFFF"/>
                    </a:solidFill>
                    <a:latin typeface="Inter"/>
                    <a:ea typeface="Inter"/>
                    <a:cs typeface="Inter"/>
                    <a:sym typeface="Inter"/>
                  </a:rPr>
                  <a:t>RECYCLABLE</a:t>
                </a:r>
                <a:endParaRPr>
                  <a:highlight>
                    <a:srgbClr val="2E8B57"/>
                  </a:highlight>
                </a:endParaRPr>
              </a:p>
            </p:txBody>
          </p:sp>
        </p:grpSp>
      </p:grpSp>
      <p:sp>
        <p:nvSpPr>
          <p:cNvPr id="208" name="Google Shape;208;p17"/>
          <p:cNvSpPr/>
          <p:nvPr/>
        </p:nvSpPr>
        <p:spPr>
          <a:xfrm>
            <a:off x="0" y="4667250"/>
            <a:ext cx="9144000" cy="476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09" name="Google Shape;209;p17"/>
          <p:cNvGrpSpPr/>
          <p:nvPr/>
        </p:nvGrpSpPr>
        <p:grpSpPr>
          <a:xfrm>
            <a:off x="381000" y="4667250"/>
            <a:ext cx="8382000" cy="333375"/>
            <a:chOff x="381000" y="4667250"/>
            <a:chExt cx="8382000" cy="333375"/>
          </a:xfrm>
        </p:grpSpPr>
        <p:cxnSp>
          <p:nvCxnSpPr>
            <p:cNvPr id="210" name="Google Shape;210;p17"/>
            <p:cNvCxnSpPr/>
            <p:nvPr/>
          </p:nvCxnSpPr>
          <p:spPr>
            <a:xfrm>
              <a:off x="381000" y="4667250"/>
              <a:ext cx="8382000" cy="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D1DCD6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11" name="Google Shape;211;p17"/>
            <p:cNvSpPr txBox="1"/>
            <p:nvPr/>
          </p:nvSpPr>
          <p:spPr>
            <a:xfrm>
              <a:off x="381000" y="4810125"/>
              <a:ext cx="83820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750">
                  <a:solidFill>
                    <a:srgbClr val="4A5D53"/>
                  </a:solidFill>
                  <a:latin typeface="Inter"/>
                  <a:ea typeface="Inter"/>
                  <a:cs typeface="Inter"/>
                  <a:sym typeface="Inter"/>
                </a:rPr>
                <a:t>SYSTEM ARCHITECTURE • LOCALIZED ML INFERENCE &amp; KNOWLEDGE BASES</a:t>
              </a:r>
              <a:endParaRPr b="0" sz="750">
                <a:solidFill>
                  <a:srgbClr val="4A5D53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